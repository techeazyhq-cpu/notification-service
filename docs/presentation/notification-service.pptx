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75da64b3-2a7b-bca1-32d9-39447cf61503}">
          <p14:sldIdLst>
            <p14:sldId id="256"/>
            <p14:sldId id="257"/>
            <p14:sldId id="258"/>
            <p14:sldId id="259"/>
          </p14:sldIdLst>
        </p14:section>
        <p14:section name="The product" id="{65d4ec35-a6ac-27e9-05c7-9037d0f96956}">
          <p14:sldIdLst>
            <p14:sldId id="260"/>
            <p14:sldId id="261"/>
            <p14:sldId id="262"/>
            <p14:sldId id="263"/>
          </p14:sldIdLst>
        </p14:section>
        <p14:section name="Business and trust" id="{f85f70ff-2289-0e60-7f5f-3f2875f59621}">
          <p14:sldIdLst>
            <p14:sldId id="264"/>
            <p14:sldId id="265"/>
            <p14:sldId id="266"/>
          </p14:sldIdLst>
        </p14:section>
        <p14:section name="Operations and developers" id="{4dc17aab-d85f-d010-264f-00b5f0d0d157}">
          <p14:sldIdLst>
            <p14:sldId id="267"/>
            <p14:sldId id="268"/>
            <p14:sldId id="269"/>
          </p14:sldIdLst>
        </p14:section>
        <p14:section name="Closing" id="{931ae2b0-928e-868b-d354-149bd8c9ab1c}">
          <p14:sldIdLst>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Notification Service is an open-source, self-hosted platform that lets any product send e-mail, SMS, WhatsApp and push messages to its users, for many tenants at once. This deck walks through why it exists, how it works, and how to start using it in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product eventually has to reach its users, and it is harder than calling an API. Providers fail, one-time passwords lose their value within minutes, every tenant needs its own setup and billing, and privacy laws demand answers about what was sent and when. Notification Service handles all four.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API covers four channels. Providers are configured per channel in priority order, so if one fails the next takes over. Each tenant gets its own API key, allowed channels, rate limits and billing, and the whole platform runs on your own infrastructure.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figures come from the project's own benchmark and chaos drills, not estimates. One instance accepts 750 requests per second with a p99 of 273 milliseconds, a 10,000-recipient bulk request is accepted in about a second, and no accepted request was lost while we restarted the database, stopped the broker and crashed the worker.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request enters through the client API and is committed to PostgreSQL in the same transaction as its outbox record, then published to Apache Pulsar. The dispatcher consumes it, applies rate limits held in Redis, and sends through the providers in priority order. Operators use the admin console and admin API, every change to which is audited.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single message's journey. It is accepted and stored, queued, dispatched under rate limits, recovered automatically when a provider fails, and every step is recorded with a timestamp, so you can always prove what happened.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Reliability is designed in at every layer: circuit breakers on providers and the broker, failover across ranked providers, a transactional outbox so accepted messages are never lost, dead-letter recovery, fair rate limits, and service level objectives with burn-rate alerts that page only when users are affected.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Login and verification codes get special treatment. They travel on their own lane, can use capacity reserved for them, expire instead of arriving late, and each tenant can be charged its own price for them. Delivery time has its own objective, and expired codes count against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Billing is built in, so you can offer the platform as a service. Prepaid tenants have their cost reserved when a request is accepted and refunded for anything not sent. Postpaid tenants get monthly invoices based on what was actually delivered, with free allowances and spend caps. Plans set prices per channel, and each tenant can have its own one-time-password price.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Privacy is part of the design, not an afterthought. Personal data is erased on a schedule or on request, encrypted at rest and in transit, and administrator actions are audited. When someone complains to a regulator, a tenant can download a timestamped report of everything it sent that person, even after their data was erased, without exposing message content.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is on by default. Administrators must change the initial password and enable two-factor authentication, roles limit who can change what, and tenants can sign their API calls so that a captured or altered request is refused. Provider URLs are checked to prevent server-side request forgery, services refuse to start with development secrets, and container images are signed with software bills of materials while every pull request is scanned.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Running it is straightforward. Traces, logs and metrics are wired up with ready-made alerts. You can start with Docker Compose, then move to Kubernetes with the Helm chart and the Terraform modules for AWS, Azure or Google Cloud. PostgreSQL runs highly available with point-in-time recovery, and the restore procedure is rehearsed.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Developers get a client console to follow their messages, an API playground, an interactive OpenAPI reference, a Postman collection that tours the entire API with tests, an error dictionary with stable codes and fixes, and step-by-step guides.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Getting started takes three commands. Start the stack with Docker Compose, seed demo providers, templates and a client, and open the admin and client consoles. From there, the onboarding runbook, client guide, Postman collection and deployment guides take you further.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Notification Service is open source under the Apache 2.0 licence. Try it locally in a few minutes, star the project if it is useful to you, and contribute: every design decision is written down as an architecture decision record, so it is easy to understand why things are the way they are.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1417320"/>
            <a:ext cx="6035040" cy="91440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457200" y="2514600"/>
            <a:ext cx="5669280" cy="868680"/>
          </a:xfrm>
          <a:prstGeom prst="rect">
            <a:avLst/>
          </a:prstGeom>
          <a:noFill/>
          <a:ln/>
        </p:spPr>
        <p:txBody>
          <a:bodyPr wrap="square" rtlCol="0"/>
          <a:lstStyle>
            <a:lvl1pPr algn="l" indent="0" marL="0">
              <a:buNone/>
              <a:defRPr lang="en-US" sz="1800" dirty="0">
                <a:solidFill>
                  <a:srgbClr val="CADCF5"/>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ligh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640080"/>
          </a:xfrm>
          <a:prstGeom prst="rect">
            <a:avLst/>
          </a:prstGeom>
          <a:noFill/>
          <a:ln/>
        </p:spPr>
        <p:txBody>
          <a:bodyPr wrap="square" rtlCol="0"/>
          <a:lstStyle>
            <a:lvl1pPr indent="0" marL="0">
              <a:buNone/>
              <a:defRPr lang="en-US" sz="3200" b="1" dirty="0">
                <a:solidFill>
                  <a:schemeClr val="tx1"/>
                </a:solidFill>
              </a:defRPr>
            </a:lvl1pPr>
          </a:lstStyle>
          <a:p>
            <a:pPr indent="0" marL="0">
              <a:buNone/>
            </a:pPr>
            <a:endParaRPr lang="en-US" sz="3200" dirty="0"/>
          </a:p>
        </p:txBody>
      </p:sp>
      <p:sp>
        <p:nvSpPr>
          <p:cNvPr id="3" name="Text 0"/>
          <p:cNvSpPr/>
          <p:nvPr/>
        </p:nvSpPr>
        <p:spPr>
          <a:xfrm>
            <a:off x="457200" y="4773168"/>
            <a:ext cx="5486400" cy="228600"/>
          </a:xfrm>
          <a:prstGeom prst="rect">
            <a:avLst/>
          </a:prstGeom>
          <a:noFill/>
          <a:ln/>
        </p:spPr>
        <p:txBody>
          <a:bodyPr wrap="square" lIns="0" tIns="0" rIns="0" bIns="0" rtlCol="0" anchor="ctr"/>
          <a:lstStyle/>
          <a:p>
            <a:pPr indent="0" marL="0">
              <a:buNone/>
            </a:pPr>
            <a:r>
              <a:rPr lang="en-US" sz="1000" dirty="0">
                <a:solidFill>
                  <a:srgbClr val="6B7392"/>
                </a:solidFill>
              </a:rPr>
              <a:t>Notification Service  ·  open source, Apache 2.0</a:t>
            </a:r>
            <a:endParaRPr lang="en-US" sz="10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B739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B739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2.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slideLayout" Target="../slideLayouts/slideLayout3.xml"/><Relationship Id="rId11"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3.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3.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3.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3.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3.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slideLayout" Target="../slideLayouts/slideLayout3.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3.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slideLayout" Target="../slideLayouts/slideLayout3.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2.xml"/><Relationship Id="rId5"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457200" y="960120"/>
            <a:ext cx="54864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OPEN SOURCE  ·  SELF-HOSTED  ·  APACHE 2.0</a:t>
            </a:r>
            <a:endParaRPr lang="en-US" sz="1200" dirty="0"/>
          </a:p>
        </p:txBody>
      </p:sp>
      <p:sp>
        <p:nvSpPr>
          <p:cNvPr id="3" name="Text 0"/>
          <p:cNvSpPr/>
          <p:nvPr>
            <p:ph idx="100" type="title" hasCustomPrompt="1"/>
          </p:nvPr>
        </p:nvSpPr>
        <p:spPr>
          <a:xfrm>
            <a:off x="457200" y="1417320"/>
            <a:ext cx="6035040" cy="914400"/>
          </a:xfrm>
          <a:prstGeom prst="rect">
            <a:avLst/>
          </a:prstGeom>
          <a:noFill/>
          <a:ln/>
        </p:spPr>
        <p:txBody>
          <a:bodyPr wrap="square" lIns="0" tIns="0" rIns="0" bIns="0" rtlCol="0" anchor="t"/>
          <a:lstStyle/>
          <a:p>
            <a:pPr algn="l" indent="0" marL="0">
              <a:buNone/>
            </a:pPr>
            <a:r>
              <a:rPr lang="en-US" sz="4400" b="1" dirty="0">
                <a:solidFill>
                  <a:schemeClr val="bg1"/>
                </a:solidFill>
              </a:rPr>
              <a:t>Notification Service</a:t>
            </a:r>
            <a:endParaRPr lang="en-US" sz="4400" dirty="0"/>
          </a:p>
        </p:txBody>
      </p:sp>
      <p:sp>
        <p:nvSpPr>
          <p:cNvPr id="4" name="Text 0"/>
          <p:cNvSpPr/>
          <p:nvPr>
            <p:ph idx="101" type="body" hasCustomPrompt="1"/>
          </p:nvPr>
        </p:nvSpPr>
        <p:spPr>
          <a:xfrm>
            <a:off x="457200" y="2514600"/>
            <a:ext cx="5669280" cy="868680"/>
          </a:xfrm>
          <a:prstGeom prst="rect">
            <a:avLst/>
          </a:prstGeom>
          <a:noFill/>
          <a:ln/>
        </p:spPr>
        <p:txBody>
          <a:bodyPr wrap="square" lIns="0" tIns="0" rIns="0" bIns="0" rtlCol="0" anchor="t"/>
          <a:lstStyle/>
          <a:p>
            <a:pPr algn="l" indent="0" marL="0">
              <a:buNone/>
            </a:pPr>
            <a:r>
              <a:rPr lang="en-US" sz="1800" dirty="0">
                <a:solidFill>
                  <a:srgbClr val="CADCF5"/>
                </a:solidFill>
              </a:rPr>
              <a:t>Reliable e-mail, SMS, WhatsApp and push messages for every product and every tenant you serve</a:t>
            </a:r>
            <a:endParaRPr lang="en-US" sz="1800" dirty="0"/>
          </a:p>
        </p:txBody>
      </p:sp>
      <p:sp>
        <p:nvSpPr>
          <p:cNvPr id="5" name="E-mail circle"/>
          <p:cNvSpPr/>
          <p:nvPr/>
        </p:nvSpPr>
        <p:spPr>
          <a:xfrm>
            <a:off x="6903720" y="1143000"/>
            <a:ext cx="777240" cy="777240"/>
          </a:xfrm>
          <a:prstGeom prst="ellipse">
            <a:avLst/>
          </a:prstGeom>
          <a:solidFill>
            <a:schemeClr val="accent1"/>
          </a:solidFill>
          <a:ln w="12700">
            <a:solidFill>
              <a:schemeClr val="accent1"/>
            </a:solidFill>
            <a:prstDash val="solid"/>
          </a:ln>
        </p:spPr>
      </p:sp>
      <p:pic>
        <p:nvPicPr>
          <p:cNvPr id="6" name="E-mail icon" descr="E-mail">    </p:cNvPr>
          <p:cNvPicPr>
            <a:picLocks noChangeAspect="1"/>
          </p:cNvPicPr>
          <p:nvPr/>
        </p:nvPicPr>
        <p:blipFill>
          <a:blip r:embed="rId1"/>
          <a:stretch>
            <a:fillRect/>
          </a:stretch>
        </p:blipFill>
        <p:spPr>
          <a:xfrm>
            <a:off x="7098030" y="1337310"/>
            <a:ext cx="388620" cy="388620"/>
          </a:xfrm>
          <a:prstGeom prst="rect">
            <a:avLst/>
          </a:prstGeom>
        </p:spPr>
      </p:pic>
      <p:sp>
        <p:nvSpPr>
          <p:cNvPr id="7" name="Text 4"/>
          <p:cNvSpPr txBox="1"/>
          <p:nvPr/>
        </p:nvSpPr>
        <p:spPr>
          <a:xfrm>
            <a:off x="6720840" y="1984248"/>
            <a:ext cx="1143000" cy="274320"/>
          </a:xfrm>
          <a:prstGeom prst="rect">
            <a:avLst/>
          </a:prstGeom>
          <a:noFill/>
          <a:ln/>
        </p:spPr>
        <p:txBody>
          <a:bodyPr wrap="square" lIns="0" tIns="0" rIns="0" bIns="0" rtlCol="0" anchor="t"/>
          <a:lstStyle/>
          <a:p>
            <a:pPr algn="ctr" indent="0" marL="0">
              <a:buNone/>
            </a:pPr>
            <a:r>
              <a:rPr lang="en-US" sz="1200" dirty="0">
                <a:solidFill>
                  <a:schemeClr val="bg1"/>
                </a:solidFill>
              </a:rPr>
              <a:t>E-mail</a:t>
            </a:r>
            <a:endParaRPr lang="en-US" sz="1200" dirty="0"/>
          </a:p>
        </p:txBody>
      </p:sp>
      <p:sp>
        <p:nvSpPr>
          <p:cNvPr id="8" name="SMS circle"/>
          <p:cNvSpPr/>
          <p:nvPr/>
        </p:nvSpPr>
        <p:spPr>
          <a:xfrm>
            <a:off x="7955280" y="1143000"/>
            <a:ext cx="777240" cy="777240"/>
          </a:xfrm>
          <a:prstGeom prst="ellipse">
            <a:avLst/>
          </a:prstGeom>
          <a:solidFill>
            <a:schemeClr val="accent2"/>
          </a:solidFill>
          <a:ln w="12700">
            <a:solidFill>
              <a:schemeClr val="accent2"/>
            </a:solidFill>
            <a:prstDash val="solid"/>
          </a:ln>
        </p:spPr>
      </p:sp>
      <p:pic>
        <p:nvPicPr>
          <p:cNvPr id="9" name="SMS icon" descr="SMS">    </p:cNvPr>
          <p:cNvPicPr>
            <a:picLocks noChangeAspect="1"/>
          </p:cNvPicPr>
          <p:nvPr/>
        </p:nvPicPr>
        <p:blipFill>
          <a:blip r:embed="rId2"/>
          <a:stretch>
            <a:fillRect/>
          </a:stretch>
        </p:blipFill>
        <p:spPr>
          <a:xfrm>
            <a:off x="8149590" y="1337310"/>
            <a:ext cx="388620" cy="388620"/>
          </a:xfrm>
          <a:prstGeom prst="rect">
            <a:avLst/>
          </a:prstGeom>
        </p:spPr>
      </p:pic>
      <p:sp>
        <p:nvSpPr>
          <p:cNvPr id="10" name="Text 6"/>
          <p:cNvSpPr txBox="1"/>
          <p:nvPr/>
        </p:nvSpPr>
        <p:spPr>
          <a:xfrm>
            <a:off x="7772400" y="1984248"/>
            <a:ext cx="1143000" cy="274320"/>
          </a:xfrm>
          <a:prstGeom prst="rect">
            <a:avLst/>
          </a:prstGeom>
          <a:noFill/>
          <a:ln/>
        </p:spPr>
        <p:txBody>
          <a:bodyPr wrap="square" lIns="0" tIns="0" rIns="0" bIns="0" rtlCol="0" anchor="t"/>
          <a:lstStyle/>
          <a:p>
            <a:pPr algn="ctr" indent="0" marL="0">
              <a:buNone/>
            </a:pPr>
            <a:r>
              <a:rPr lang="en-US" sz="1200" dirty="0">
                <a:solidFill>
                  <a:schemeClr val="bg1"/>
                </a:solidFill>
              </a:rPr>
              <a:t>SMS</a:t>
            </a:r>
            <a:endParaRPr lang="en-US" sz="1200" dirty="0"/>
          </a:p>
        </p:txBody>
      </p:sp>
      <p:sp>
        <p:nvSpPr>
          <p:cNvPr id="11" name="WhatsApp circle"/>
          <p:cNvSpPr/>
          <p:nvPr/>
        </p:nvSpPr>
        <p:spPr>
          <a:xfrm>
            <a:off x="6903720" y="2468880"/>
            <a:ext cx="777240" cy="777240"/>
          </a:xfrm>
          <a:prstGeom prst="ellipse">
            <a:avLst/>
          </a:prstGeom>
          <a:solidFill>
            <a:schemeClr val="accent5"/>
          </a:solidFill>
          <a:ln w="12700">
            <a:solidFill>
              <a:schemeClr val="accent5"/>
            </a:solidFill>
            <a:prstDash val="solid"/>
          </a:ln>
        </p:spPr>
      </p:sp>
      <p:pic>
        <p:nvPicPr>
          <p:cNvPr id="12" name="WhatsApp icon" descr="WhatsApp">    </p:cNvPr>
          <p:cNvPicPr>
            <a:picLocks noChangeAspect="1"/>
          </p:cNvPicPr>
          <p:nvPr/>
        </p:nvPicPr>
        <p:blipFill>
          <a:blip r:embed="rId3"/>
          <a:stretch>
            <a:fillRect/>
          </a:stretch>
        </p:blipFill>
        <p:spPr>
          <a:xfrm>
            <a:off x="7098030" y="2663190"/>
            <a:ext cx="388620" cy="388620"/>
          </a:xfrm>
          <a:prstGeom prst="rect">
            <a:avLst/>
          </a:prstGeom>
        </p:spPr>
      </p:pic>
      <p:sp>
        <p:nvSpPr>
          <p:cNvPr id="13" name="Text 8"/>
          <p:cNvSpPr txBox="1"/>
          <p:nvPr/>
        </p:nvSpPr>
        <p:spPr>
          <a:xfrm>
            <a:off x="6720840" y="3310128"/>
            <a:ext cx="1143000" cy="274320"/>
          </a:xfrm>
          <a:prstGeom prst="rect">
            <a:avLst/>
          </a:prstGeom>
          <a:noFill/>
          <a:ln/>
        </p:spPr>
        <p:txBody>
          <a:bodyPr wrap="square" lIns="0" tIns="0" rIns="0" bIns="0" rtlCol="0" anchor="t"/>
          <a:lstStyle/>
          <a:p>
            <a:pPr algn="ctr" indent="0" marL="0">
              <a:buNone/>
            </a:pPr>
            <a:r>
              <a:rPr lang="en-US" sz="1200" dirty="0">
                <a:solidFill>
                  <a:schemeClr val="bg1"/>
                </a:solidFill>
              </a:rPr>
              <a:t>WhatsApp</a:t>
            </a:r>
            <a:endParaRPr lang="en-US" sz="1200" dirty="0"/>
          </a:p>
        </p:txBody>
      </p:sp>
      <p:sp>
        <p:nvSpPr>
          <p:cNvPr id="14" name="Push circle"/>
          <p:cNvSpPr/>
          <p:nvPr/>
        </p:nvSpPr>
        <p:spPr>
          <a:xfrm>
            <a:off x="7955280" y="2468880"/>
            <a:ext cx="777240" cy="777240"/>
          </a:xfrm>
          <a:prstGeom prst="ellipse">
            <a:avLst/>
          </a:prstGeom>
          <a:solidFill>
            <a:schemeClr val="accent3"/>
          </a:solidFill>
          <a:ln w="12700">
            <a:solidFill>
              <a:schemeClr val="accent3"/>
            </a:solidFill>
            <a:prstDash val="solid"/>
          </a:ln>
        </p:spPr>
      </p:sp>
      <p:pic>
        <p:nvPicPr>
          <p:cNvPr id="15" name="Push icon" descr="Push">    </p:cNvPr>
          <p:cNvPicPr>
            <a:picLocks noChangeAspect="1"/>
          </p:cNvPicPr>
          <p:nvPr/>
        </p:nvPicPr>
        <p:blipFill>
          <a:blip r:embed="rId4"/>
          <a:stretch>
            <a:fillRect/>
          </a:stretch>
        </p:blipFill>
        <p:spPr>
          <a:xfrm>
            <a:off x="8149590" y="2663190"/>
            <a:ext cx="388620" cy="388620"/>
          </a:xfrm>
          <a:prstGeom prst="rect">
            <a:avLst/>
          </a:prstGeom>
        </p:spPr>
      </p:pic>
      <p:sp>
        <p:nvSpPr>
          <p:cNvPr id="16" name="Text 10"/>
          <p:cNvSpPr txBox="1"/>
          <p:nvPr/>
        </p:nvSpPr>
        <p:spPr>
          <a:xfrm>
            <a:off x="7772400" y="3310128"/>
            <a:ext cx="1143000" cy="274320"/>
          </a:xfrm>
          <a:prstGeom prst="rect">
            <a:avLst/>
          </a:prstGeom>
          <a:noFill/>
          <a:ln/>
        </p:spPr>
        <p:txBody>
          <a:bodyPr wrap="square" lIns="0" tIns="0" rIns="0" bIns="0" rtlCol="0" anchor="t"/>
          <a:lstStyle/>
          <a:p>
            <a:pPr algn="ctr" indent="0" marL="0">
              <a:buNone/>
            </a:pPr>
            <a:r>
              <a:rPr lang="en-US" sz="1200" dirty="0">
                <a:solidFill>
                  <a:schemeClr val="bg1"/>
                </a:solidFill>
              </a:rPr>
              <a:t>Push</a:t>
            </a:r>
            <a:endParaRPr lang="en-US" sz="1200" dirty="0"/>
          </a:p>
        </p:txBody>
      </p:sp>
      <p:sp>
        <p:nvSpPr>
          <p:cNvPr id="17" name="Text 11"/>
          <p:cNvSpPr txBox="1"/>
          <p:nvPr/>
        </p:nvSpPr>
        <p:spPr>
          <a:xfrm>
            <a:off x="457200" y="4160520"/>
            <a:ext cx="6035040" cy="320040"/>
          </a:xfrm>
          <a:prstGeom prst="rect">
            <a:avLst/>
          </a:prstGeom>
          <a:noFill/>
          <a:ln/>
        </p:spPr>
        <p:txBody>
          <a:bodyPr wrap="square" lIns="0" tIns="0" rIns="0" bIns="0" rtlCol="0" anchor="t"/>
          <a:lstStyle/>
          <a:p>
            <a:pPr indent="0" marL="0">
              <a:buNone/>
            </a:pPr>
            <a:r>
              <a:rPr lang="en-US" sz="1400" i="1" dirty="0">
                <a:solidFill>
                  <a:schemeClr val="accent1"/>
                </a:solidFill>
              </a:rPr>
              <a:t>Accept in milliseconds. Deliver through outages. Prove every step.</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640080"/>
          </a:xfrm>
          <a:prstGeom prst="rect">
            <a:avLst/>
          </a:prstGeom>
          <a:noFill/>
          <a:ln/>
        </p:spPr>
        <p:txBody>
          <a:bodyPr wrap="square" lIns="0" tIns="0" rIns="0" bIns="0" rtlCol="0" anchor="ctr"/>
          <a:lstStyle/>
          <a:p>
            <a:pPr indent="0" marL="0">
              <a:buNone/>
            </a:pPr>
            <a:r>
              <a:rPr lang="en-US" sz="3200" b="1" dirty="0">
                <a:solidFill>
                  <a:schemeClr val="tx1"/>
                </a:solidFill>
              </a:rPr>
              <a:t>Reaching users is harder than it looks</a:t>
            </a:r>
            <a:endParaRPr lang="en-US" sz="3200" dirty="0"/>
          </a:p>
        </p:txBody>
      </p:sp>
      <p:sp>
        <p:nvSpPr>
          <p:cNvPr id="3" name="Providers fail card"/>
          <p:cNvSpPr/>
          <p:nvPr/>
        </p:nvSpPr>
        <p:spPr>
          <a:xfrm>
            <a:off x="457200" y="1188720"/>
            <a:ext cx="4023360" cy="1508760"/>
          </a:xfrm>
          <a:prstGeom prst="roundRect">
            <a:avLst>
              <a:gd name="adj" fmla="val 7273"/>
            </a:avLst>
          </a:prstGeom>
          <a:solidFill>
            <a:schemeClr val="bg2"/>
          </a:solidFill>
          <a:ln w="12700">
            <a:solidFill>
              <a:schemeClr val="bg2"/>
            </a:solidFill>
            <a:prstDash val="solid"/>
          </a:ln>
          <a:effectLst>
            <a:outerShdw sx="100000" sy="100000" kx="0" ky="0" algn="bl" rotWithShape="0" blurRad="76200" dist="25400" dir="5400000">
              <a:srgbClr val="161A36">
                <a:alpha val="10000"/>
              </a:srgbClr>
            </a:outerShdw>
          </a:effectLst>
        </p:spPr>
      </p:sp>
      <p:sp>
        <p:nvSpPr>
          <p:cNvPr id="4" name="Providers fail circle"/>
          <p:cNvSpPr/>
          <p:nvPr/>
        </p:nvSpPr>
        <p:spPr>
          <a:xfrm>
            <a:off x="685800" y="1463040"/>
            <a:ext cx="640080" cy="640080"/>
          </a:xfrm>
          <a:prstGeom prst="ellipse">
            <a:avLst/>
          </a:prstGeom>
          <a:solidFill>
            <a:schemeClr val="accent6"/>
          </a:solidFill>
          <a:ln w="12700">
            <a:solidFill>
              <a:schemeClr val="accent6"/>
            </a:solidFill>
            <a:prstDash val="solid"/>
          </a:ln>
        </p:spPr>
      </p:sp>
      <p:pic>
        <p:nvPicPr>
          <p:cNvPr id="5" name="Providers fail icon" descr="Providers fail">    </p:cNvPr>
          <p:cNvPicPr>
            <a:picLocks noChangeAspect="1"/>
          </p:cNvPicPr>
          <p:nvPr/>
        </p:nvPicPr>
        <p:blipFill>
          <a:blip r:embed="rId1"/>
          <a:stretch>
            <a:fillRect/>
          </a:stretch>
        </p:blipFill>
        <p:spPr>
          <a:xfrm>
            <a:off x="845820" y="1623060"/>
            <a:ext cx="320040" cy="320040"/>
          </a:xfrm>
          <a:prstGeom prst="rect">
            <a:avLst/>
          </a:prstGeom>
        </p:spPr>
      </p:pic>
      <p:sp>
        <p:nvSpPr>
          <p:cNvPr id="6" name="Text 3"/>
          <p:cNvSpPr txBox="1"/>
          <p:nvPr/>
        </p:nvSpPr>
        <p:spPr>
          <a:xfrm>
            <a:off x="1508760" y="1444752"/>
            <a:ext cx="2743200" cy="365760"/>
          </a:xfrm>
          <a:prstGeom prst="rect">
            <a:avLst/>
          </a:prstGeom>
          <a:noFill/>
          <a:ln/>
        </p:spPr>
        <p:txBody>
          <a:bodyPr wrap="square" lIns="0" tIns="0" rIns="0" bIns="0" rtlCol="0" anchor="t"/>
          <a:lstStyle/>
          <a:p>
            <a:pPr indent="0" marL="0">
              <a:buNone/>
            </a:pPr>
            <a:r>
              <a:rPr lang="en-US" sz="1800" b="1" dirty="0">
                <a:solidFill>
                  <a:schemeClr val="tx1"/>
                </a:solidFill>
              </a:rPr>
              <a:t>Providers fail</a:t>
            </a:r>
            <a:endParaRPr lang="en-US" sz="1800" dirty="0"/>
          </a:p>
        </p:txBody>
      </p:sp>
      <p:sp>
        <p:nvSpPr>
          <p:cNvPr id="7" name="Text 4"/>
          <p:cNvSpPr txBox="1"/>
          <p:nvPr/>
        </p:nvSpPr>
        <p:spPr>
          <a:xfrm>
            <a:off x="1508760" y="1847088"/>
            <a:ext cx="2788920" cy="731520"/>
          </a:xfrm>
          <a:prstGeom prst="rect">
            <a:avLst/>
          </a:prstGeom>
          <a:noFill/>
          <a:ln/>
        </p:spPr>
        <p:txBody>
          <a:bodyPr wrap="square" lIns="0" tIns="0" rIns="0" bIns="0" rtlCol="0" anchor="t"/>
          <a:lstStyle/>
          <a:p>
            <a:pPr indent="0" marL="0">
              <a:buNone/>
            </a:pPr>
            <a:r>
              <a:rPr lang="en-US" sz="1400" dirty="0">
                <a:solidFill>
                  <a:srgbClr val="3D4466"/>
                </a:solidFill>
              </a:rPr>
              <a:t>Gateways time out, throttle and go down, usually at the worst moment.</a:t>
            </a:r>
            <a:endParaRPr lang="en-US" sz="1400" dirty="0"/>
          </a:p>
        </p:txBody>
      </p:sp>
      <p:sp>
        <p:nvSpPr>
          <p:cNvPr id="8" name="Codes cannot wait card"/>
          <p:cNvSpPr/>
          <p:nvPr/>
        </p:nvSpPr>
        <p:spPr>
          <a:xfrm>
            <a:off x="4663440" y="1188720"/>
            <a:ext cx="4023360" cy="1508760"/>
          </a:xfrm>
          <a:prstGeom prst="roundRect">
            <a:avLst>
              <a:gd name="adj" fmla="val 7273"/>
            </a:avLst>
          </a:prstGeom>
          <a:solidFill>
            <a:schemeClr val="bg2"/>
          </a:solidFill>
          <a:ln w="12700">
            <a:solidFill>
              <a:schemeClr val="bg2"/>
            </a:solidFill>
            <a:prstDash val="solid"/>
          </a:ln>
          <a:effectLst>
            <a:outerShdw sx="100000" sy="100000" kx="0" ky="0" algn="bl" rotWithShape="0" blurRad="76200" dist="25400" dir="5400000">
              <a:srgbClr val="161A36">
                <a:alpha val="10000"/>
              </a:srgbClr>
            </a:outerShdw>
          </a:effectLst>
        </p:spPr>
      </p:sp>
      <p:sp>
        <p:nvSpPr>
          <p:cNvPr id="9" name="Codes cannot wait circle"/>
          <p:cNvSpPr/>
          <p:nvPr/>
        </p:nvSpPr>
        <p:spPr>
          <a:xfrm>
            <a:off x="4892040" y="1463040"/>
            <a:ext cx="640080" cy="640080"/>
          </a:xfrm>
          <a:prstGeom prst="ellipse">
            <a:avLst/>
          </a:prstGeom>
          <a:solidFill>
            <a:schemeClr val="accent2"/>
          </a:solidFill>
          <a:ln w="12700">
            <a:solidFill>
              <a:schemeClr val="accent2"/>
            </a:solidFill>
            <a:prstDash val="solid"/>
          </a:ln>
        </p:spPr>
      </p:sp>
      <p:pic>
        <p:nvPicPr>
          <p:cNvPr id="10" name="Codes cannot wait icon" descr="Codes cannot wait">    </p:cNvPr>
          <p:cNvPicPr>
            <a:picLocks noChangeAspect="1"/>
          </p:cNvPicPr>
          <p:nvPr/>
        </p:nvPicPr>
        <p:blipFill>
          <a:blip r:embed="rId2"/>
          <a:stretch>
            <a:fillRect/>
          </a:stretch>
        </p:blipFill>
        <p:spPr>
          <a:xfrm>
            <a:off x="5052060" y="1623060"/>
            <a:ext cx="320040" cy="320040"/>
          </a:xfrm>
          <a:prstGeom prst="rect">
            <a:avLst/>
          </a:prstGeom>
        </p:spPr>
      </p:pic>
      <p:sp>
        <p:nvSpPr>
          <p:cNvPr id="11" name="Text 7"/>
          <p:cNvSpPr txBox="1"/>
          <p:nvPr/>
        </p:nvSpPr>
        <p:spPr>
          <a:xfrm>
            <a:off x="5715000" y="1444752"/>
            <a:ext cx="2743200" cy="365760"/>
          </a:xfrm>
          <a:prstGeom prst="rect">
            <a:avLst/>
          </a:prstGeom>
          <a:noFill/>
          <a:ln/>
        </p:spPr>
        <p:txBody>
          <a:bodyPr wrap="square" lIns="0" tIns="0" rIns="0" bIns="0" rtlCol="0" anchor="t"/>
          <a:lstStyle/>
          <a:p>
            <a:pPr indent="0" marL="0">
              <a:buNone/>
            </a:pPr>
            <a:r>
              <a:rPr lang="en-US" sz="1800" b="1" dirty="0">
                <a:solidFill>
                  <a:schemeClr val="tx1"/>
                </a:solidFill>
              </a:rPr>
              <a:t>Codes cannot wait</a:t>
            </a:r>
            <a:endParaRPr lang="en-US" sz="1800" dirty="0"/>
          </a:p>
        </p:txBody>
      </p:sp>
      <p:sp>
        <p:nvSpPr>
          <p:cNvPr id="12" name="Text 8"/>
          <p:cNvSpPr txBox="1"/>
          <p:nvPr/>
        </p:nvSpPr>
        <p:spPr>
          <a:xfrm>
            <a:off x="5715000" y="1847088"/>
            <a:ext cx="2788920" cy="731520"/>
          </a:xfrm>
          <a:prstGeom prst="rect">
            <a:avLst/>
          </a:prstGeom>
          <a:noFill/>
          <a:ln/>
        </p:spPr>
        <p:txBody>
          <a:bodyPr wrap="square" lIns="0" tIns="0" rIns="0" bIns="0" rtlCol="0" anchor="t"/>
          <a:lstStyle/>
          <a:p>
            <a:pPr indent="0" marL="0">
              <a:buNone/>
            </a:pPr>
            <a:r>
              <a:rPr lang="en-US" sz="1400" dirty="0">
                <a:solidFill>
                  <a:srgbClr val="3D4466"/>
                </a:solidFill>
              </a:rPr>
              <a:t>A login code stuck behind a newsletter is worthless to the person waiting for it.</a:t>
            </a:r>
            <a:endParaRPr lang="en-US" sz="1400" dirty="0"/>
          </a:p>
        </p:txBody>
      </p:sp>
      <p:sp>
        <p:nvSpPr>
          <p:cNvPr id="13" name="Every tenant differs card"/>
          <p:cNvSpPr/>
          <p:nvPr/>
        </p:nvSpPr>
        <p:spPr>
          <a:xfrm>
            <a:off x="457200" y="2880360"/>
            <a:ext cx="4023360" cy="1508760"/>
          </a:xfrm>
          <a:prstGeom prst="roundRect">
            <a:avLst>
              <a:gd name="adj" fmla="val 7273"/>
            </a:avLst>
          </a:prstGeom>
          <a:solidFill>
            <a:schemeClr val="bg2"/>
          </a:solidFill>
          <a:ln w="12700">
            <a:solidFill>
              <a:schemeClr val="bg2"/>
            </a:solidFill>
            <a:prstDash val="solid"/>
          </a:ln>
          <a:effectLst>
            <a:outerShdw sx="100000" sy="100000" kx="0" ky="0" algn="bl" rotWithShape="0" blurRad="76200" dist="25400" dir="5400000">
              <a:srgbClr val="161A36">
                <a:alpha val="10000"/>
              </a:srgbClr>
            </a:outerShdw>
          </a:effectLst>
        </p:spPr>
      </p:sp>
      <p:sp>
        <p:nvSpPr>
          <p:cNvPr id="14" name="Every tenant differs circle"/>
          <p:cNvSpPr/>
          <p:nvPr/>
        </p:nvSpPr>
        <p:spPr>
          <a:xfrm>
            <a:off x="685800" y="3154680"/>
            <a:ext cx="640080" cy="640080"/>
          </a:xfrm>
          <a:prstGeom prst="ellipse">
            <a:avLst/>
          </a:prstGeom>
          <a:solidFill>
            <a:schemeClr val="accent3"/>
          </a:solidFill>
          <a:ln w="12700">
            <a:solidFill>
              <a:schemeClr val="accent3"/>
            </a:solidFill>
            <a:prstDash val="solid"/>
          </a:ln>
        </p:spPr>
      </p:sp>
      <p:pic>
        <p:nvPicPr>
          <p:cNvPr id="15" name="Every tenant differs icon" descr="Every tenant differs">    </p:cNvPr>
          <p:cNvPicPr>
            <a:picLocks noChangeAspect="1"/>
          </p:cNvPicPr>
          <p:nvPr/>
        </p:nvPicPr>
        <p:blipFill>
          <a:blip r:embed="rId3"/>
          <a:stretch>
            <a:fillRect/>
          </a:stretch>
        </p:blipFill>
        <p:spPr>
          <a:xfrm>
            <a:off x="845820" y="3314700"/>
            <a:ext cx="320040" cy="320040"/>
          </a:xfrm>
          <a:prstGeom prst="rect">
            <a:avLst/>
          </a:prstGeom>
        </p:spPr>
      </p:pic>
      <p:sp>
        <p:nvSpPr>
          <p:cNvPr id="16" name="Text 11"/>
          <p:cNvSpPr txBox="1"/>
          <p:nvPr/>
        </p:nvSpPr>
        <p:spPr>
          <a:xfrm>
            <a:off x="1508760" y="3136392"/>
            <a:ext cx="2743200" cy="365760"/>
          </a:xfrm>
          <a:prstGeom prst="rect">
            <a:avLst/>
          </a:prstGeom>
          <a:noFill/>
          <a:ln/>
        </p:spPr>
        <p:txBody>
          <a:bodyPr wrap="square" lIns="0" tIns="0" rIns="0" bIns="0" rtlCol="0" anchor="t"/>
          <a:lstStyle/>
          <a:p>
            <a:pPr indent="0" marL="0">
              <a:buNone/>
            </a:pPr>
            <a:r>
              <a:rPr lang="en-US" sz="1800" b="1" dirty="0">
                <a:solidFill>
                  <a:schemeClr val="tx1"/>
                </a:solidFill>
              </a:rPr>
              <a:t>Every tenant differs</a:t>
            </a:r>
            <a:endParaRPr lang="en-US" sz="1800" dirty="0"/>
          </a:p>
        </p:txBody>
      </p:sp>
      <p:sp>
        <p:nvSpPr>
          <p:cNvPr id="17" name="Text 12"/>
          <p:cNvSpPr txBox="1"/>
          <p:nvPr/>
        </p:nvSpPr>
        <p:spPr>
          <a:xfrm>
            <a:off x="1508760" y="3538728"/>
            <a:ext cx="2788920" cy="731520"/>
          </a:xfrm>
          <a:prstGeom prst="rect">
            <a:avLst/>
          </a:prstGeom>
          <a:noFill/>
          <a:ln/>
        </p:spPr>
        <p:txBody>
          <a:bodyPr wrap="square" lIns="0" tIns="0" rIns="0" bIns="0" rtlCol="0" anchor="t"/>
          <a:lstStyle/>
          <a:p>
            <a:pPr indent="0" marL="0">
              <a:buNone/>
            </a:pPr>
            <a:r>
              <a:rPr lang="en-US" sz="1400" dirty="0">
                <a:solidFill>
                  <a:srgbClr val="3D4466"/>
                </a:solidFill>
              </a:rPr>
              <a:t>Each customer needs its own channels, limits, prices and billing.</a:t>
            </a:r>
            <a:endParaRPr lang="en-US" sz="1400" dirty="0"/>
          </a:p>
        </p:txBody>
      </p:sp>
      <p:sp>
        <p:nvSpPr>
          <p:cNvPr id="18" name="Regulators ask card"/>
          <p:cNvSpPr/>
          <p:nvPr/>
        </p:nvSpPr>
        <p:spPr>
          <a:xfrm>
            <a:off x="4663440" y="2880360"/>
            <a:ext cx="4023360" cy="1508760"/>
          </a:xfrm>
          <a:prstGeom prst="roundRect">
            <a:avLst>
              <a:gd name="adj" fmla="val 7273"/>
            </a:avLst>
          </a:prstGeom>
          <a:solidFill>
            <a:schemeClr val="bg2"/>
          </a:solidFill>
          <a:ln w="12700">
            <a:solidFill>
              <a:schemeClr val="bg2"/>
            </a:solidFill>
            <a:prstDash val="solid"/>
          </a:ln>
          <a:effectLst>
            <a:outerShdw sx="100000" sy="100000" kx="0" ky="0" algn="bl" rotWithShape="0" blurRad="76200" dist="25400" dir="5400000">
              <a:srgbClr val="161A36">
                <a:alpha val="10000"/>
              </a:srgbClr>
            </a:outerShdw>
          </a:effectLst>
        </p:spPr>
      </p:sp>
      <p:sp>
        <p:nvSpPr>
          <p:cNvPr id="19" name="Regulators ask circle"/>
          <p:cNvSpPr/>
          <p:nvPr/>
        </p:nvSpPr>
        <p:spPr>
          <a:xfrm>
            <a:off x="4892040" y="3154680"/>
            <a:ext cx="640080" cy="640080"/>
          </a:xfrm>
          <a:prstGeom prst="ellipse">
            <a:avLst/>
          </a:prstGeom>
          <a:solidFill>
            <a:schemeClr val="accent1"/>
          </a:solidFill>
          <a:ln w="12700">
            <a:solidFill>
              <a:schemeClr val="accent1"/>
            </a:solidFill>
            <a:prstDash val="solid"/>
          </a:ln>
        </p:spPr>
      </p:sp>
      <p:pic>
        <p:nvPicPr>
          <p:cNvPr id="20" name="Regulators ask icon" descr="Regulators ask">    </p:cNvPr>
          <p:cNvPicPr>
            <a:picLocks noChangeAspect="1"/>
          </p:cNvPicPr>
          <p:nvPr/>
        </p:nvPicPr>
        <p:blipFill>
          <a:blip r:embed="rId4"/>
          <a:stretch>
            <a:fillRect/>
          </a:stretch>
        </p:blipFill>
        <p:spPr>
          <a:xfrm>
            <a:off x="5052060" y="3314700"/>
            <a:ext cx="320040" cy="320040"/>
          </a:xfrm>
          <a:prstGeom prst="rect">
            <a:avLst/>
          </a:prstGeom>
        </p:spPr>
      </p:pic>
      <p:sp>
        <p:nvSpPr>
          <p:cNvPr id="21" name="Text 15"/>
          <p:cNvSpPr txBox="1"/>
          <p:nvPr/>
        </p:nvSpPr>
        <p:spPr>
          <a:xfrm>
            <a:off x="5715000" y="3136392"/>
            <a:ext cx="2743200" cy="365760"/>
          </a:xfrm>
          <a:prstGeom prst="rect">
            <a:avLst/>
          </a:prstGeom>
          <a:noFill/>
          <a:ln/>
        </p:spPr>
        <p:txBody>
          <a:bodyPr wrap="square" lIns="0" tIns="0" rIns="0" bIns="0" rtlCol="0" anchor="t"/>
          <a:lstStyle/>
          <a:p>
            <a:pPr indent="0" marL="0">
              <a:buNone/>
            </a:pPr>
            <a:r>
              <a:rPr lang="en-US" sz="1800" b="1" dirty="0">
                <a:solidFill>
                  <a:schemeClr val="tx1"/>
                </a:solidFill>
              </a:rPr>
              <a:t>Regulators ask</a:t>
            </a:r>
            <a:endParaRPr lang="en-US" sz="1800" dirty="0"/>
          </a:p>
        </p:txBody>
      </p:sp>
      <p:sp>
        <p:nvSpPr>
          <p:cNvPr id="22" name="Text 16"/>
          <p:cNvSpPr txBox="1"/>
          <p:nvPr/>
        </p:nvSpPr>
        <p:spPr>
          <a:xfrm>
            <a:off x="5715000" y="3538728"/>
            <a:ext cx="2788920" cy="731520"/>
          </a:xfrm>
          <a:prstGeom prst="rect">
            <a:avLst/>
          </a:prstGeom>
          <a:noFill/>
          <a:ln/>
        </p:spPr>
        <p:txBody>
          <a:bodyPr wrap="square" lIns="0" tIns="0" rIns="0" bIns="0" rtlCol="0" anchor="t"/>
          <a:lstStyle/>
          <a:p>
            <a:pPr indent="0" marL="0">
              <a:buNone/>
            </a:pPr>
            <a:r>
              <a:rPr lang="en-US" sz="1400" dirty="0">
                <a:solidFill>
                  <a:srgbClr val="3D4466"/>
                </a:solidFill>
              </a:rPr>
              <a:t>Privacy laws require retention, erasure and evidence of what was sent.</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B739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640080"/>
          </a:xfrm>
          <a:prstGeom prst="rect">
            <a:avLst/>
          </a:prstGeom>
          <a:noFill/>
          <a:ln/>
        </p:spPr>
        <p:txBody>
          <a:bodyPr wrap="square" lIns="0" tIns="0" rIns="0" bIns="0" rtlCol="0" anchor="ctr"/>
          <a:lstStyle/>
          <a:p>
            <a:pPr indent="0" marL="0">
              <a:buNone/>
            </a:pPr>
            <a:r>
              <a:rPr lang="en-US" sz="3200" b="1" dirty="0">
                <a:solidFill>
                  <a:schemeClr val="tx1"/>
                </a:solidFill>
              </a:rPr>
              <a:t>One platform for every channel</a:t>
            </a:r>
            <a:endParaRPr lang="en-US" sz="3200" dirty="0"/>
          </a:p>
        </p:txBody>
      </p:sp>
      <p:sp>
        <p:nvSpPr>
          <p:cNvPr id="3" name="Text 1"/>
          <p:cNvSpPr txBox="1"/>
          <p:nvPr/>
        </p:nvSpPr>
        <p:spPr>
          <a:xfrm>
            <a:off x="457200" y="1188720"/>
            <a:ext cx="3931920" cy="1097280"/>
          </a:xfrm>
          <a:prstGeom prst="rect">
            <a:avLst/>
          </a:prstGeom>
          <a:noFill/>
          <a:ln/>
        </p:spPr>
        <p:txBody>
          <a:bodyPr wrap="square" lIns="0" tIns="0" rIns="0" bIns="0" rtlCol="0" anchor="t"/>
          <a:lstStyle/>
          <a:p>
            <a:pPr indent="0" marL="0">
              <a:buNone/>
            </a:pPr>
            <a:r>
              <a:rPr lang="en-US" sz="1600" dirty="0">
                <a:solidFill>
                  <a:schemeClr val="tx1"/>
                </a:solidFill>
              </a:rPr>
              <a:t>Your systems call one API. The platform stores each request durably, then delivers it through the right provider, retrying and failing over until it gets through.</a:t>
            </a:r>
            <a:endParaRPr lang="en-US" sz="1600" dirty="0"/>
          </a:p>
        </p:txBody>
      </p:sp>
      <p:sp>
        <p:nvSpPr>
          <p:cNvPr id="4" name="Text 2"/>
          <p:cNvSpPr txBox="1"/>
          <p:nvPr/>
        </p:nvSpPr>
        <p:spPr>
          <a:xfrm>
            <a:off x="457200" y="2423160"/>
            <a:ext cx="3931920" cy="201168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rgbClr val="3D4466"/>
                </a:solidFill>
              </a:rPr>
              <a:t>Multi-tenant: each client has its own key, channels, limits and billing</a:t>
            </a:r>
            <a:endParaRPr lang="en-US" sz="1500" dirty="0"/>
          </a:p>
          <a:p>
            <a:pPr marL="342900" indent="-342900">
              <a:spcAft>
                <a:spcPts val="1000"/>
              </a:spcAft>
              <a:buSzPct val="100000"/>
              <a:buChar char="•"/>
            </a:pPr>
            <a:r>
              <a:rPr lang="en-US" sz="1500" dirty="0">
                <a:solidFill>
                  <a:srgbClr val="3D4466"/>
                </a:solidFill>
              </a:rPr>
              <a:t>API-first, with an admin console and a client console</a:t>
            </a:r>
            <a:endParaRPr lang="en-US" sz="1500" dirty="0"/>
          </a:p>
          <a:p>
            <a:pPr marL="342900" indent="-342900">
              <a:spcAft>
                <a:spcPts val="1000"/>
              </a:spcAft>
              <a:buSzPct val="100000"/>
              <a:buChar char="•"/>
            </a:pPr>
            <a:r>
              <a:rPr lang="en-US" sz="1500" dirty="0">
                <a:solidFill>
                  <a:srgbClr val="3D4466"/>
                </a:solidFill>
              </a:rPr>
              <a:t>Self-hosted on Docker or Kubernetes, in any cloud</a:t>
            </a:r>
            <a:endParaRPr lang="en-US" sz="1500" dirty="0"/>
          </a:p>
        </p:txBody>
      </p:sp>
      <p:sp>
        <p:nvSpPr>
          <p:cNvPr id="5" name="E-mail tile"/>
          <p:cNvSpPr/>
          <p:nvPr/>
        </p:nvSpPr>
        <p:spPr>
          <a:xfrm>
            <a:off x="4846320" y="1188720"/>
            <a:ext cx="1783080" cy="1463040"/>
          </a:xfrm>
          <a:prstGeom prst="roundRect">
            <a:avLst>
              <a:gd name="adj" fmla="val 7500"/>
            </a:avLst>
          </a:prstGeom>
          <a:solidFill>
            <a:schemeClr val="bg2"/>
          </a:solidFill>
          <a:ln w="12700">
            <a:solidFill>
              <a:schemeClr val="bg2"/>
            </a:solidFill>
            <a:prstDash val="solid"/>
          </a:ln>
          <a:effectLst>
            <a:outerShdw sx="100000" sy="100000" kx="0" ky="0" algn="bl" rotWithShape="0" blurRad="76200" dist="25400" dir="5400000">
              <a:srgbClr val="161A36">
                <a:alpha val="10000"/>
              </a:srgbClr>
            </a:outerShdw>
          </a:effectLst>
        </p:spPr>
      </p:sp>
      <p:sp>
        <p:nvSpPr>
          <p:cNvPr id="6" name="E-mail circle"/>
          <p:cNvSpPr/>
          <p:nvPr/>
        </p:nvSpPr>
        <p:spPr>
          <a:xfrm>
            <a:off x="5440680" y="1371600"/>
            <a:ext cx="594360" cy="594360"/>
          </a:xfrm>
          <a:prstGeom prst="ellipse">
            <a:avLst/>
          </a:prstGeom>
          <a:solidFill>
            <a:schemeClr val="accent1"/>
          </a:solidFill>
          <a:ln w="12700">
            <a:solidFill>
              <a:schemeClr val="accent1"/>
            </a:solidFill>
            <a:prstDash val="solid"/>
          </a:ln>
        </p:spPr>
      </p:sp>
      <p:pic>
        <p:nvPicPr>
          <p:cNvPr id="7" name="E-mail icon" descr="E-mail">    </p:cNvPr>
          <p:cNvPicPr>
            <a:picLocks noChangeAspect="1"/>
          </p:cNvPicPr>
          <p:nvPr/>
        </p:nvPicPr>
        <p:blipFill>
          <a:blip r:embed="rId1"/>
          <a:stretch>
            <a:fillRect/>
          </a:stretch>
        </p:blipFill>
        <p:spPr>
          <a:xfrm>
            <a:off x="5589270" y="1520190"/>
            <a:ext cx="297180" cy="297180"/>
          </a:xfrm>
          <a:prstGeom prst="rect">
            <a:avLst/>
          </a:prstGeom>
        </p:spPr>
      </p:pic>
      <p:sp>
        <p:nvSpPr>
          <p:cNvPr id="8" name="Text 5"/>
          <p:cNvSpPr txBox="1"/>
          <p:nvPr/>
        </p:nvSpPr>
        <p:spPr>
          <a:xfrm>
            <a:off x="4937760" y="2029968"/>
            <a:ext cx="1600200" cy="274320"/>
          </a:xfrm>
          <a:prstGeom prst="rect">
            <a:avLst/>
          </a:prstGeom>
          <a:noFill/>
          <a:ln/>
        </p:spPr>
        <p:txBody>
          <a:bodyPr wrap="square" lIns="0" tIns="0" rIns="0" bIns="0" rtlCol="0" anchor="t"/>
          <a:lstStyle/>
          <a:p>
            <a:pPr algn="ctr" indent="0" marL="0">
              <a:buNone/>
            </a:pPr>
            <a:r>
              <a:rPr lang="en-US" sz="1600" b="1" dirty="0">
                <a:solidFill>
                  <a:schemeClr val="tx1"/>
                </a:solidFill>
              </a:rPr>
              <a:t>E-mail</a:t>
            </a:r>
            <a:endParaRPr lang="en-US" sz="1600" dirty="0"/>
          </a:p>
        </p:txBody>
      </p:sp>
      <p:sp>
        <p:nvSpPr>
          <p:cNvPr id="9" name="Text 6"/>
          <p:cNvSpPr txBox="1"/>
          <p:nvPr/>
        </p:nvSpPr>
        <p:spPr>
          <a:xfrm>
            <a:off x="4937760" y="2286000"/>
            <a:ext cx="1600200" cy="274320"/>
          </a:xfrm>
          <a:prstGeom prst="rect">
            <a:avLst/>
          </a:prstGeom>
          <a:noFill/>
          <a:ln/>
        </p:spPr>
        <p:txBody>
          <a:bodyPr wrap="square" lIns="0" tIns="0" rIns="0" bIns="0" rtlCol="0" anchor="t"/>
          <a:lstStyle/>
          <a:p>
            <a:pPr algn="ctr" indent="0" marL="0">
              <a:buNone/>
            </a:pPr>
            <a:r>
              <a:rPr lang="en-US" sz="1200" dirty="0">
                <a:solidFill>
                  <a:srgbClr val="5A6185"/>
                </a:solidFill>
              </a:rPr>
              <a:t>Any SMTP server</a:t>
            </a:r>
            <a:endParaRPr lang="en-US" sz="1200" dirty="0"/>
          </a:p>
        </p:txBody>
      </p:sp>
      <p:sp>
        <p:nvSpPr>
          <p:cNvPr id="10" name="SMS tile"/>
          <p:cNvSpPr/>
          <p:nvPr/>
        </p:nvSpPr>
        <p:spPr>
          <a:xfrm>
            <a:off x="6766560" y="1188720"/>
            <a:ext cx="1783080" cy="1463040"/>
          </a:xfrm>
          <a:prstGeom prst="roundRect">
            <a:avLst>
              <a:gd name="adj" fmla="val 7500"/>
            </a:avLst>
          </a:prstGeom>
          <a:solidFill>
            <a:schemeClr val="bg2"/>
          </a:solidFill>
          <a:ln w="12700">
            <a:solidFill>
              <a:schemeClr val="bg2"/>
            </a:solidFill>
            <a:prstDash val="solid"/>
          </a:ln>
          <a:effectLst>
            <a:outerShdw sx="100000" sy="100000" kx="0" ky="0" algn="bl" rotWithShape="0" blurRad="76200" dist="25400" dir="5400000">
              <a:srgbClr val="161A36">
                <a:alpha val="10000"/>
              </a:srgbClr>
            </a:outerShdw>
          </a:effectLst>
        </p:spPr>
      </p:sp>
      <p:sp>
        <p:nvSpPr>
          <p:cNvPr id="11" name="SMS circle"/>
          <p:cNvSpPr/>
          <p:nvPr/>
        </p:nvSpPr>
        <p:spPr>
          <a:xfrm>
            <a:off x="7360920" y="1371600"/>
            <a:ext cx="594360" cy="594360"/>
          </a:xfrm>
          <a:prstGeom prst="ellipse">
            <a:avLst/>
          </a:prstGeom>
          <a:solidFill>
            <a:schemeClr val="accent2"/>
          </a:solidFill>
          <a:ln w="12700">
            <a:solidFill>
              <a:schemeClr val="accent2"/>
            </a:solidFill>
            <a:prstDash val="solid"/>
          </a:ln>
        </p:spPr>
      </p:sp>
      <p:pic>
        <p:nvPicPr>
          <p:cNvPr id="12" name="SMS icon" descr="SMS">    </p:cNvPr>
          <p:cNvPicPr>
            <a:picLocks noChangeAspect="1"/>
          </p:cNvPicPr>
          <p:nvPr/>
        </p:nvPicPr>
        <p:blipFill>
          <a:blip r:embed="rId2"/>
          <a:stretch>
            <a:fillRect/>
          </a:stretch>
        </p:blipFill>
        <p:spPr>
          <a:xfrm>
            <a:off x="7509510" y="1520190"/>
            <a:ext cx="297180" cy="297180"/>
          </a:xfrm>
          <a:prstGeom prst="rect">
            <a:avLst/>
          </a:prstGeom>
        </p:spPr>
      </p:pic>
      <p:sp>
        <p:nvSpPr>
          <p:cNvPr id="13" name="Text 9"/>
          <p:cNvSpPr txBox="1"/>
          <p:nvPr/>
        </p:nvSpPr>
        <p:spPr>
          <a:xfrm>
            <a:off x="6858000" y="2029968"/>
            <a:ext cx="1600200" cy="274320"/>
          </a:xfrm>
          <a:prstGeom prst="rect">
            <a:avLst/>
          </a:prstGeom>
          <a:noFill/>
          <a:ln/>
        </p:spPr>
        <p:txBody>
          <a:bodyPr wrap="square" lIns="0" tIns="0" rIns="0" bIns="0" rtlCol="0" anchor="t"/>
          <a:lstStyle/>
          <a:p>
            <a:pPr algn="ctr" indent="0" marL="0">
              <a:buNone/>
            </a:pPr>
            <a:r>
              <a:rPr lang="en-US" sz="1600" b="1" dirty="0">
                <a:solidFill>
                  <a:schemeClr val="tx1"/>
                </a:solidFill>
              </a:rPr>
              <a:t>SMS</a:t>
            </a:r>
            <a:endParaRPr lang="en-US" sz="1600" dirty="0"/>
          </a:p>
        </p:txBody>
      </p:sp>
      <p:sp>
        <p:nvSpPr>
          <p:cNvPr id="14" name="Text 10"/>
          <p:cNvSpPr txBox="1"/>
          <p:nvPr/>
        </p:nvSpPr>
        <p:spPr>
          <a:xfrm>
            <a:off x="6858000" y="2286000"/>
            <a:ext cx="1600200" cy="274320"/>
          </a:xfrm>
          <a:prstGeom prst="rect">
            <a:avLst/>
          </a:prstGeom>
          <a:noFill/>
          <a:ln/>
        </p:spPr>
        <p:txBody>
          <a:bodyPr wrap="square" lIns="0" tIns="0" rIns="0" bIns="0" rtlCol="0" anchor="t"/>
          <a:lstStyle/>
          <a:p>
            <a:pPr algn="ctr" indent="0" marL="0">
              <a:buNone/>
            </a:pPr>
            <a:r>
              <a:rPr lang="en-US" sz="1200" dirty="0">
                <a:solidFill>
                  <a:srgbClr val="5A6185"/>
                </a:solidFill>
              </a:rPr>
              <a:t>Any HTTP gateway</a:t>
            </a:r>
            <a:endParaRPr lang="en-US" sz="1200" dirty="0"/>
          </a:p>
        </p:txBody>
      </p:sp>
      <p:sp>
        <p:nvSpPr>
          <p:cNvPr id="15" name="WhatsApp tile"/>
          <p:cNvSpPr/>
          <p:nvPr/>
        </p:nvSpPr>
        <p:spPr>
          <a:xfrm>
            <a:off x="4846320" y="2834640"/>
            <a:ext cx="1783080" cy="1463040"/>
          </a:xfrm>
          <a:prstGeom prst="roundRect">
            <a:avLst>
              <a:gd name="adj" fmla="val 7500"/>
            </a:avLst>
          </a:prstGeom>
          <a:solidFill>
            <a:schemeClr val="bg2"/>
          </a:solidFill>
          <a:ln w="12700">
            <a:solidFill>
              <a:schemeClr val="bg2"/>
            </a:solidFill>
            <a:prstDash val="solid"/>
          </a:ln>
          <a:effectLst>
            <a:outerShdw sx="100000" sy="100000" kx="0" ky="0" algn="bl" rotWithShape="0" blurRad="76200" dist="25400" dir="5400000">
              <a:srgbClr val="161A36">
                <a:alpha val="10000"/>
              </a:srgbClr>
            </a:outerShdw>
          </a:effectLst>
        </p:spPr>
      </p:sp>
      <p:sp>
        <p:nvSpPr>
          <p:cNvPr id="16" name="WhatsApp circle"/>
          <p:cNvSpPr/>
          <p:nvPr/>
        </p:nvSpPr>
        <p:spPr>
          <a:xfrm>
            <a:off x="5440680" y="3017520"/>
            <a:ext cx="594360" cy="594360"/>
          </a:xfrm>
          <a:prstGeom prst="ellipse">
            <a:avLst/>
          </a:prstGeom>
          <a:solidFill>
            <a:schemeClr val="accent5"/>
          </a:solidFill>
          <a:ln w="12700">
            <a:solidFill>
              <a:schemeClr val="accent5"/>
            </a:solidFill>
            <a:prstDash val="solid"/>
          </a:ln>
        </p:spPr>
      </p:sp>
      <p:pic>
        <p:nvPicPr>
          <p:cNvPr id="17" name="WhatsApp icon" descr="WhatsApp">    </p:cNvPr>
          <p:cNvPicPr>
            <a:picLocks noChangeAspect="1"/>
          </p:cNvPicPr>
          <p:nvPr/>
        </p:nvPicPr>
        <p:blipFill>
          <a:blip r:embed="rId3"/>
          <a:stretch>
            <a:fillRect/>
          </a:stretch>
        </p:blipFill>
        <p:spPr>
          <a:xfrm>
            <a:off x="5589270" y="3166110"/>
            <a:ext cx="297180" cy="297180"/>
          </a:xfrm>
          <a:prstGeom prst="rect">
            <a:avLst/>
          </a:prstGeom>
        </p:spPr>
      </p:pic>
      <p:sp>
        <p:nvSpPr>
          <p:cNvPr id="18" name="Text 13"/>
          <p:cNvSpPr txBox="1"/>
          <p:nvPr/>
        </p:nvSpPr>
        <p:spPr>
          <a:xfrm>
            <a:off x="4937760" y="3675888"/>
            <a:ext cx="1600200" cy="274320"/>
          </a:xfrm>
          <a:prstGeom prst="rect">
            <a:avLst/>
          </a:prstGeom>
          <a:noFill/>
          <a:ln/>
        </p:spPr>
        <p:txBody>
          <a:bodyPr wrap="square" lIns="0" tIns="0" rIns="0" bIns="0" rtlCol="0" anchor="t"/>
          <a:lstStyle/>
          <a:p>
            <a:pPr algn="ctr" indent="0" marL="0">
              <a:buNone/>
            </a:pPr>
            <a:r>
              <a:rPr lang="en-US" sz="1600" b="1" dirty="0">
                <a:solidFill>
                  <a:schemeClr val="tx1"/>
                </a:solidFill>
              </a:rPr>
              <a:t>WhatsApp</a:t>
            </a:r>
            <a:endParaRPr lang="en-US" sz="1600" dirty="0"/>
          </a:p>
        </p:txBody>
      </p:sp>
      <p:sp>
        <p:nvSpPr>
          <p:cNvPr id="19" name="Text 14"/>
          <p:cNvSpPr txBox="1"/>
          <p:nvPr/>
        </p:nvSpPr>
        <p:spPr>
          <a:xfrm>
            <a:off x="4937760" y="3931920"/>
            <a:ext cx="1600200" cy="274320"/>
          </a:xfrm>
          <a:prstGeom prst="rect">
            <a:avLst/>
          </a:prstGeom>
          <a:noFill/>
          <a:ln/>
        </p:spPr>
        <p:txBody>
          <a:bodyPr wrap="square" lIns="0" tIns="0" rIns="0" bIns="0" rtlCol="0" anchor="t"/>
          <a:lstStyle/>
          <a:p>
            <a:pPr algn="ctr" indent="0" marL="0">
              <a:buNone/>
            </a:pPr>
            <a:r>
              <a:rPr lang="en-US" sz="1200" dirty="0">
                <a:solidFill>
                  <a:srgbClr val="5A6185"/>
                </a:solidFill>
              </a:rPr>
              <a:t>Business API providers</a:t>
            </a:r>
            <a:endParaRPr lang="en-US" sz="1200" dirty="0"/>
          </a:p>
        </p:txBody>
      </p:sp>
      <p:sp>
        <p:nvSpPr>
          <p:cNvPr id="20" name="Push tile"/>
          <p:cNvSpPr/>
          <p:nvPr/>
        </p:nvSpPr>
        <p:spPr>
          <a:xfrm>
            <a:off x="6766560" y="2834640"/>
            <a:ext cx="1783080" cy="1463040"/>
          </a:xfrm>
          <a:prstGeom prst="roundRect">
            <a:avLst>
              <a:gd name="adj" fmla="val 7500"/>
            </a:avLst>
          </a:prstGeom>
          <a:solidFill>
            <a:schemeClr val="bg2"/>
          </a:solidFill>
          <a:ln w="12700">
            <a:solidFill>
              <a:schemeClr val="bg2"/>
            </a:solidFill>
            <a:prstDash val="solid"/>
          </a:ln>
          <a:effectLst>
            <a:outerShdw sx="100000" sy="100000" kx="0" ky="0" algn="bl" rotWithShape="0" blurRad="76200" dist="25400" dir="5400000">
              <a:srgbClr val="161A36">
                <a:alpha val="10000"/>
              </a:srgbClr>
            </a:outerShdw>
          </a:effectLst>
        </p:spPr>
      </p:sp>
      <p:sp>
        <p:nvSpPr>
          <p:cNvPr id="21" name="Push circle"/>
          <p:cNvSpPr/>
          <p:nvPr/>
        </p:nvSpPr>
        <p:spPr>
          <a:xfrm>
            <a:off x="7360920" y="3017520"/>
            <a:ext cx="594360" cy="594360"/>
          </a:xfrm>
          <a:prstGeom prst="ellipse">
            <a:avLst/>
          </a:prstGeom>
          <a:solidFill>
            <a:schemeClr val="accent3"/>
          </a:solidFill>
          <a:ln w="12700">
            <a:solidFill>
              <a:schemeClr val="accent3"/>
            </a:solidFill>
            <a:prstDash val="solid"/>
          </a:ln>
        </p:spPr>
      </p:sp>
      <p:pic>
        <p:nvPicPr>
          <p:cNvPr id="22" name="Push icon" descr="Push">    </p:cNvPr>
          <p:cNvPicPr>
            <a:picLocks noChangeAspect="1"/>
          </p:cNvPicPr>
          <p:nvPr/>
        </p:nvPicPr>
        <p:blipFill>
          <a:blip r:embed="rId4"/>
          <a:stretch>
            <a:fillRect/>
          </a:stretch>
        </p:blipFill>
        <p:spPr>
          <a:xfrm>
            <a:off x="7509510" y="3166110"/>
            <a:ext cx="297180" cy="297180"/>
          </a:xfrm>
          <a:prstGeom prst="rect">
            <a:avLst/>
          </a:prstGeom>
        </p:spPr>
      </p:pic>
      <p:sp>
        <p:nvSpPr>
          <p:cNvPr id="23" name="Text 17"/>
          <p:cNvSpPr txBox="1"/>
          <p:nvPr/>
        </p:nvSpPr>
        <p:spPr>
          <a:xfrm>
            <a:off x="6858000" y="3675888"/>
            <a:ext cx="1600200" cy="274320"/>
          </a:xfrm>
          <a:prstGeom prst="rect">
            <a:avLst/>
          </a:prstGeom>
          <a:noFill/>
          <a:ln/>
        </p:spPr>
        <p:txBody>
          <a:bodyPr wrap="square" lIns="0" tIns="0" rIns="0" bIns="0" rtlCol="0" anchor="t"/>
          <a:lstStyle/>
          <a:p>
            <a:pPr algn="ctr" indent="0" marL="0">
              <a:buNone/>
            </a:pPr>
            <a:r>
              <a:rPr lang="en-US" sz="1600" b="1" dirty="0">
                <a:solidFill>
                  <a:schemeClr val="tx1"/>
                </a:solidFill>
              </a:rPr>
              <a:t>Push</a:t>
            </a:r>
            <a:endParaRPr lang="en-US" sz="1600" dirty="0"/>
          </a:p>
        </p:txBody>
      </p:sp>
      <p:sp>
        <p:nvSpPr>
          <p:cNvPr id="24" name="Text 18"/>
          <p:cNvSpPr txBox="1"/>
          <p:nvPr/>
        </p:nvSpPr>
        <p:spPr>
          <a:xfrm>
            <a:off x="6858000" y="3931920"/>
            <a:ext cx="1600200" cy="274320"/>
          </a:xfrm>
          <a:prstGeom prst="rect">
            <a:avLst/>
          </a:prstGeom>
          <a:noFill/>
          <a:ln/>
        </p:spPr>
        <p:txBody>
          <a:bodyPr wrap="square" lIns="0" tIns="0" rIns="0" bIns="0" rtlCol="0" anchor="t"/>
          <a:lstStyle/>
          <a:p>
            <a:pPr algn="ctr" indent="0" marL="0">
              <a:buNone/>
            </a:pPr>
            <a:r>
              <a:rPr lang="en-US" sz="1200" dirty="0">
                <a:solidFill>
                  <a:srgbClr val="5A6185"/>
                </a:solidFill>
              </a:rPr>
              <a:t>Mobile push services</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B739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640080"/>
          </a:xfrm>
          <a:prstGeom prst="rect">
            <a:avLst/>
          </a:prstGeom>
          <a:noFill/>
          <a:ln/>
        </p:spPr>
        <p:txBody>
          <a:bodyPr wrap="square" lIns="0" tIns="0" rIns="0" bIns="0" rtlCol="0" anchor="ctr"/>
          <a:lstStyle/>
          <a:p>
            <a:pPr indent="0" marL="0">
              <a:buNone/>
            </a:pPr>
            <a:r>
              <a:rPr lang="en-US" sz="3200" b="1" dirty="0">
                <a:solidFill>
                  <a:schemeClr val="tx1"/>
                </a:solidFill>
              </a:rPr>
              <a:t>Proven under pressure</a:t>
            </a:r>
            <a:endParaRPr lang="en-US" sz="3200" dirty="0"/>
          </a:p>
        </p:txBody>
      </p:sp>
      <p:sp>
        <p:nvSpPr>
          <p:cNvPr id="3" name="750 stat"/>
          <p:cNvSpPr/>
          <p:nvPr/>
        </p:nvSpPr>
        <p:spPr>
          <a:xfrm>
            <a:off x="457200" y="1234440"/>
            <a:ext cx="1920240" cy="2743200"/>
          </a:xfrm>
          <a:prstGeom prst="roundRect">
            <a:avLst>
              <a:gd name="adj" fmla="val 5714"/>
            </a:avLst>
          </a:prstGeom>
          <a:solidFill>
            <a:schemeClr val="bg2"/>
          </a:solidFill>
          <a:ln w="12700">
            <a:solidFill>
              <a:schemeClr val="bg2"/>
            </a:solidFill>
            <a:prstDash val="solid"/>
          </a:ln>
          <a:effectLst>
            <a:outerShdw sx="100000" sy="100000" kx="0" ky="0" algn="bl" rotWithShape="0" blurRad="76200" dist="25400" dir="5400000">
              <a:srgbClr val="161A36">
                <a:alpha val="10000"/>
              </a:srgbClr>
            </a:outerShdw>
          </a:effectLst>
        </p:spPr>
      </p:sp>
      <p:sp>
        <p:nvSpPr>
          <p:cNvPr id="4" name="Text 2"/>
          <p:cNvSpPr txBox="1"/>
          <p:nvPr/>
        </p:nvSpPr>
        <p:spPr>
          <a:xfrm>
            <a:off x="502920" y="1508760"/>
            <a:ext cx="1828800" cy="777240"/>
          </a:xfrm>
          <a:prstGeom prst="rect">
            <a:avLst/>
          </a:prstGeom>
          <a:noFill/>
          <a:ln/>
        </p:spPr>
        <p:txBody>
          <a:bodyPr wrap="square" lIns="0" tIns="0" rIns="0" bIns="0" rtlCol="0" anchor="t"/>
          <a:lstStyle/>
          <a:p>
            <a:pPr algn="ctr" indent="0" marL="0">
              <a:buNone/>
            </a:pPr>
            <a:r>
              <a:rPr lang="en-US" sz="4400" b="1" dirty="0">
                <a:solidFill>
                  <a:schemeClr val="accent1"/>
                </a:solidFill>
                <a:latin typeface="Arial" pitchFamily="34" charset="0"/>
                <a:ea typeface="Arial" pitchFamily="34" charset="-122"/>
                <a:cs typeface="Arial" pitchFamily="34" charset="-120"/>
              </a:rPr>
              <a:t>750</a:t>
            </a:r>
            <a:endParaRPr lang="en-US" sz="4400" dirty="0"/>
          </a:p>
        </p:txBody>
      </p:sp>
      <p:sp>
        <p:nvSpPr>
          <p:cNvPr id="5" name="Text 3"/>
          <p:cNvSpPr txBox="1"/>
          <p:nvPr/>
        </p:nvSpPr>
        <p:spPr>
          <a:xfrm>
            <a:off x="640080" y="2468880"/>
            <a:ext cx="1554480" cy="1371600"/>
          </a:xfrm>
          <a:prstGeom prst="rect">
            <a:avLst/>
          </a:prstGeom>
          <a:noFill/>
          <a:ln/>
        </p:spPr>
        <p:txBody>
          <a:bodyPr wrap="square" lIns="0" tIns="0" rIns="0" bIns="0" rtlCol="0" anchor="t"/>
          <a:lstStyle/>
          <a:p>
            <a:pPr algn="ctr" indent="0" marL="0">
              <a:buNone/>
            </a:pPr>
            <a:r>
              <a:rPr lang="en-US" sz="1400" dirty="0">
                <a:solidFill>
                  <a:srgbClr val="3D4466"/>
                </a:solidFill>
              </a:rPr>
              <a:t>requests accepted per second on a single instance, p99 273 ms</a:t>
            </a:r>
            <a:endParaRPr lang="en-US" sz="1400" dirty="0"/>
          </a:p>
        </p:txBody>
      </p:sp>
      <p:sp>
        <p:nvSpPr>
          <p:cNvPr id="6" name="~1 s stat"/>
          <p:cNvSpPr/>
          <p:nvPr/>
        </p:nvSpPr>
        <p:spPr>
          <a:xfrm>
            <a:off x="2560320" y="1234440"/>
            <a:ext cx="1920240" cy="2743200"/>
          </a:xfrm>
          <a:prstGeom prst="roundRect">
            <a:avLst>
              <a:gd name="adj" fmla="val 5714"/>
            </a:avLst>
          </a:prstGeom>
          <a:solidFill>
            <a:schemeClr val="bg2"/>
          </a:solidFill>
          <a:ln w="12700">
            <a:solidFill>
              <a:schemeClr val="bg2"/>
            </a:solidFill>
            <a:prstDash val="solid"/>
          </a:ln>
          <a:effectLst>
            <a:outerShdw sx="100000" sy="100000" kx="0" ky="0" algn="bl" rotWithShape="0" blurRad="76200" dist="25400" dir="5400000">
              <a:srgbClr val="161A36">
                <a:alpha val="10000"/>
              </a:srgbClr>
            </a:outerShdw>
          </a:effectLst>
        </p:spPr>
      </p:sp>
      <p:sp>
        <p:nvSpPr>
          <p:cNvPr id="7" name="Text 5"/>
          <p:cNvSpPr txBox="1"/>
          <p:nvPr/>
        </p:nvSpPr>
        <p:spPr>
          <a:xfrm>
            <a:off x="2606040" y="1508760"/>
            <a:ext cx="1828800" cy="777240"/>
          </a:xfrm>
          <a:prstGeom prst="rect">
            <a:avLst/>
          </a:prstGeom>
          <a:noFill/>
          <a:ln/>
        </p:spPr>
        <p:txBody>
          <a:bodyPr wrap="square" lIns="0" tIns="0" rIns="0" bIns="0" rtlCol="0" anchor="t"/>
          <a:lstStyle/>
          <a:p>
            <a:pPr algn="ctr" indent="0" marL="0">
              <a:buNone/>
            </a:pPr>
            <a:r>
              <a:rPr lang="en-US" sz="4400" b="1" dirty="0">
                <a:solidFill>
                  <a:schemeClr val="accent3"/>
                </a:solidFill>
                <a:latin typeface="Arial" pitchFamily="34" charset="0"/>
                <a:ea typeface="Arial" pitchFamily="34" charset="-122"/>
                <a:cs typeface="Arial" pitchFamily="34" charset="-120"/>
              </a:rPr>
              <a:t>~1 s</a:t>
            </a:r>
            <a:endParaRPr lang="en-US" sz="4400" dirty="0"/>
          </a:p>
        </p:txBody>
      </p:sp>
      <p:sp>
        <p:nvSpPr>
          <p:cNvPr id="8" name="Text 6"/>
          <p:cNvSpPr txBox="1"/>
          <p:nvPr/>
        </p:nvSpPr>
        <p:spPr>
          <a:xfrm>
            <a:off x="2743200" y="2468880"/>
            <a:ext cx="1554480" cy="1371600"/>
          </a:xfrm>
          <a:prstGeom prst="rect">
            <a:avLst/>
          </a:prstGeom>
          <a:noFill/>
          <a:ln/>
        </p:spPr>
        <p:txBody>
          <a:bodyPr wrap="square" lIns="0" tIns="0" rIns="0" bIns="0" rtlCol="0" anchor="t"/>
          <a:lstStyle/>
          <a:p>
            <a:pPr algn="ctr" indent="0" marL="0">
              <a:buNone/>
            </a:pPr>
            <a:r>
              <a:rPr lang="en-US" sz="1400" dirty="0">
                <a:solidFill>
                  <a:srgbClr val="3D4466"/>
                </a:solidFill>
              </a:rPr>
              <a:t>to accept a 10,000-recipient bulk send</a:t>
            </a:r>
            <a:endParaRPr lang="en-US" sz="1400" dirty="0"/>
          </a:p>
        </p:txBody>
      </p:sp>
      <p:sp>
        <p:nvSpPr>
          <p:cNvPr id="9" name="0 stat"/>
          <p:cNvSpPr/>
          <p:nvPr/>
        </p:nvSpPr>
        <p:spPr>
          <a:xfrm>
            <a:off x="4663440" y="1234440"/>
            <a:ext cx="1920240" cy="2743200"/>
          </a:xfrm>
          <a:prstGeom prst="roundRect">
            <a:avLst>
              <a:gd name="adj" fmla="val 5714"/>
            </a:avLst>
          </a:prstGeom>
          <a:solidFill>
            <a:schemeClr val="bg2"/>
          </a:solidFill>
          <a:ln w="12700">
            <a:solidFill>
              <a:schemeClr val="bg2"/>
            </a:solidFill>
            <a:prstDash val="solid"/>
          </a:ln>
          <a:effectLst>
            <a:outerShdw sx="100000" sy="100000" kx="0" ky="0" algn="bl" rotWithShape="0" blurRad="76200" dist="25400" dir="5400000">
              <a:srgbClr val="161A36">
                <a:alpha val="10000"/>
              </a:srgbClr>
            </a:outerShdw>
          </a:effectLst>
        </p:spPr>
      </p:sp>
      <p:sp>
        <p:nvSpPr>
          <p:cNvPr id="10" name="Text 8"/>
          <p:cNvSpPr txBox="1"/>
          <p:nvPr/>
        </p:nvSpPr>
        <p:spPr>
          <a:xfrm>
            <a:off x="4709160" y="1508760"/>
            <a:ext cx="1828800" cy="777240"/>
          </a:xfrm>
          <a:prstGeom prst="rect">
            <a:avLst/>
          </a:prstGeom>
          <a:noFill/>
          <a:ln/>
        </p:spPr>
        <p:txBody>
          <a:bodyPr wrap="square" lIns="0" tIns="0" rIns="0" bIns="0" rtlCol="0" anchor="t"/>
          <a:lstStyle/>
          <a:p>
            <a:pPr algn="ctr" indent="0" marL="0">
              <a:buNone/>
            </a:pPr>
            <a:r>
              <a:rPr lang="en-US" sz="4400" b="1" dirty="0">
                <a:solidFill>
                  <a:schemeClr val="accent5"/>
                </a:solidFill>
                <a:latin typeface="Arial" pitchFamily="34" charset="0"/>
                <a:ea typeface="Arial" pitchFamily="34" charset="-122"/>
                <a:cs typeface="Arial" pitchFamily="34" charset="-120"/>
              </a:rPr>
              <a:t>0</a:t>
            </a:r>
            <a:endParaRPr lang="en-US" sz="4400" dirty="0"/>
          </a:p>
        </p:txBody>
      </p:sp>
      <p:sp>
        <p:nvSpPr>
          <p:cNvPr id="11" name="Text 9"/>
          <p:cNvSpPr txBox="1"/>
          <p:nvPr/>
        </p:nvSpPr>
        <p:spPr>
          <a:xfrm>
            <a:off x="4846320" y="2468880"/>
            <a:ext cx="1554480" cy="1371600"/>
          </a:xfrm>
          <a:prstGeom prst="rect">
            <a:avLst/>
          </a:prstGeom>
          <a:noFill/>
          <a:ln/>
        </p:spPr>
        <p:txBody>
          <a:bodyPr wrap="square" lIns="0" tIns="0" rIns="0" bIns="0" rtlCol="0" anchor="t"/>
          <a:lstStyle/>
          <a:p>
            <a:pPr algn="ctr" indent="0" marL="0">
              <a:buNone/>
            </a:pPr>
            <a:r>
              <a:rPr lang="en-US" sz="1400" dirty="0">
                <a:solidFill>
                  <a:srgbClr val="3D4466"/>
                </a:solidFill>
              </a:rPr>
              <a:t>accepted requests lost in failure drills: database restart, broker down, worker crash</a:t>
            </a:r>
            <a:endParaRPr lang="en-US" sz="1400" dirty="0"/>
          </a:p>
        </p:txBody>
      </p:sp>
      <p:sp>
        <p:nvSpPr>
          <p:cNvPr id="12" name="99.9% stat"/>
          <p:cNvSpPr/>
          <p:nvPr/>
        </p:nvSpPr>
        <p:spPr>
          <a:xfrm>
            <a:off x="6766560" y="1234440"/>
            <a:ext cx="1920240" cy="2743200"/>
          </a:xfrm>
          <a:prstGeom prst="roundRect">
            <a:avLst>
              <a:gd name="adj" fmla="val 5714"/>
            </a:avLst>
          </a:prstGeom>
          <a:solidFill>
            <a:schemeClr val="bg2"/>
          </a:solidFill>
          <a:ln w="12700">
            <a:solidFill>
              <a:schemeClr val="bg2"/>
            </a:solidFill>
            <a:prstDash val="solid"/>
          </a:ln>
          <a:effectLst>
            <a:outerShdw sx="100000" sy="100000" kx="0" ky="0" algn="bl" rotWithShape="0" blurRad="76200" dist="25400" dir="5400000">
              <a:srgbClr val="161A36">
                <a:alpha val="10000"/>
              </a:srgbClr>
            </a:outerShdw>
          </a:effectLst>
        </p:spPr>
      </p:sp>
      <p:sp>
        <p:nvSpPr>
          <p:cNvPr id="13" name="Text 11"/>
          <p:cNvSpPr txBox="1"/>
          <p:nvPr/>
        </p:nvSpPr>
        <p:spPr>
          <a:xfrm>
            <a:off x="6812280" y="1508760"/>
            <a:ext cx="1828800" cy="777240"/>
          </a:xfrm>
          <a:prstGeom prst="rect">
            <a:avLst/>
          </a:prstGeom>
          <a:noFill/>
          <a:ln/>
        </p:spPr>
        <p:txBody>
          <a:bodyPr wrap="square" lIns="0" tIns="0" rIns="0" bIns="0" rtlCol="0" anchor="t"/>
          <a:lstStyle/>
          <a:p>
            <a:pPr algn="ctr" indent="0" marL="0">
              <a:buNone/>
            </a:pPr>
            <a:r>
              <a:rPr lang="en-US" sz="4400" b="1" dirty="0">
                <a:solidFill>
                  <a:schemeClr val="accent2"/>
                </a:solidFill>
                <a:latin typeface="Arial" pitchFamily="34" charset="0"/>
                <a:ea typeface="Arial" pitchFamily="34" charset="-122"/>
                <a:cs typeface="Arial" pitchFamily="34" charset="-120"/>
              </a:rPr>
              <a:t>99.9%</a:t>
            </a:r>
            <a:endParaRPr lang="en-US" sz="4400" dirty="0"/>
          </a:p>
        </p:txBody>
      </p:sp>
      <p:sp>
        <p:nvSpPr>
          <p:cNvPr id="14" name="Text 12"/>
          <p:cNvSpPr txBox="1"/>
          <p:nvPr/>
        </p:nvSpPr>
        <p:spPr>
          <a:xfrm>
            <a:off x="6949440" y="2468880"/>
            <a:ext cx="1554480" cy="1371600"/>
          </a:xfrm>
          <a:prstGeom prst="rect">
            <a:avLst/>
          </a:prstGeom>
          <a:noFill/>
          <a:ln/>
        </p:spPr>
        <p:txBody>
          <a:bodyPr wrap="square" lIns="0" tIns="0" rIns="0" bIns="0" rtlCol="0" anchor="t"/>
          <a:lstStyle/>
          <a:p>
            <a:pPr algn="ctr" indent="0" marL="0">
              <a:buNone/>
            </a:pPr>
            <a:r>
              <a:rPr lang="en-US" sz="1400" dirty="0">
                <a:solidFill>
                  <a:srgbClr val="3D4466"/>
                </a:solidFill>
              </a:rPr>
              <a:t>accept availability objective, with burn-rate alerts</a:t>
            </a:r>
            <a:endParaRPr lang="en-US" sz="1400" dirty="0"/>
          </a:p>
        </p:txBody>
      </p:sp>
      <p:sp>
        <p:nvSpPr>
          <p:cNvPr id="15" name="Text 13"/>
          <p:cNvSpPr txBox="1"/>
          <p:nvPr/>
        </p:nvSpPr>
        <p:spPr>
          <a:xfrm>
            <a:off x="457200" y="4224528"/>
            <a:ext cx="8229600" cy="274320"/>
          </a:xfrm>
          <a:prstGeom prst="rect">
            <a:avLst/>
          </a:prstGeom>
          <a:noFill/>
          <a:ln/>
        </p:spPr>
        <p:txBody>
          <a:bodyPr wrap="square" lIns="0" tIns="0" rIns="0" bIns="0" rtlCol="0" anchor="t"/>
          <a:lstStyle/>
          <a:p>
            <a:pPr indent="0" marL="0">
              <a:buNone/>
            </a:pPr>
            <a:r>
              <a:rPr lang="en-US" sz="1100" i="1" dirty="0">
                <a:solidFill>
                  <a:srgbClr val="6B7392"/>
                </a:solidFill>
              </a:rPr>
              <a:t>Measured with the project's own load and chaos drills; details in docs/quality-attributes-analysis.md</a:t>
            </a:r>
            <a:endParaRPr lang="en-US" sz="11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B739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640080"/>
          </a:xfrm>
          <a:prstGeom prst="rect">
            <a:avLst/>
          </a:prstGeom>
          <a:noFill/>
          <a:ln/>
        </p:spPr>
        <p:txBody>
          <a:bodyPr wrap="square" lIns="0" tIns="0" rIns="0" bIns="0" rtlCol="0" anchor="ctr"/>
          <a:lstStyle/>
          <a:p>
            <a:pPr indent="0" marL="0">
              <a:buNone/>
            </a:pPr>
            <a:r>
              <a:rPr lang="en-US" sz="3200" b="1" dirty="0">
                <a:solidFill>
                  <a:schemeClr val="tx1"/>
                </a:solidFill>
              </a:rPr>
              <a:t>How it works</a:t>
            </a:r>
            <a:endParaRPr lang="en-US" sz="3200" dirty="0"/>
          </a:p>
        </p:txBody>
      </p:sp>
      <p:sp>
        <p:nvSpPr>
          <p:cNvPr id="3" name="Your apps box"/>
          <p:cNvSpPr/>
          <p:nvPr/>
        </p:nvSpPr>
        <p:spPr>
          <a:xfrm>
            <a:off x="457200" y="1188720"/>
            <a:ext cx="1481328" cy="1024128"/>
          </a:xfrm>
          <a:prstGeom prst="roundRect">
            <a:avLst>
              <a:gd name="adj" fmla="val 8929"/>
            </a:avLst>
          </a:prstGeom>
          <a:solidFill>
            <a:schemeClr val="bg2"/>
          </a:solidFill>
          <a:ln w="12700">
            <a:solidFill>
              <a:srgbClr val="D5DBEA"/>
            </a:solidFill>
            <a:prstDash val="solid"/>
          </a:ln>
        </p:spPr>
      </p:sp>
      <p:sp>
        <p:nvSpPr>
          <p:cNvPr id="4" name="Your apps circle"/>
          <p:cNvSpPr/>
          <p:nvPr/>
        </p:nvSpPr>
        <p:spPr>
          <a:xfrm>
            <a:off x="1005840" y="1280160"/>
            <a:ext cx="384048" cy="384048"/>
          </a:xfrm>
          <a:prstGeom prst="ellipse">
            <a:avLst/>
          </a:prstGeom>
          <a:solidFill>
            <a:schemeClr val="tx1"/>
          </a:solidFill>
          <a:ln w="12700">
            <a:solidFill>
              <a:schemeClr val="tx1"/>
            </a:solidFill>
            <a:prstDash val="solid"/>
          </a:ln>
        </p:spPr>
      </p:sp>
      <p:pic>
        <p:nvPicPr>
          <p:cNvPr id="5" name="Your apps icon" descr="Your apps">    </p:cNvPr>
          <p:cNvPicPr>
            <a:picLocks noChangeAspect="1"/>
          </p:cNvPicPr>
          <p:nvPr/>
        </p:nvPicPr>
        <p:blipFill>
          <a:blip r:embed="rId1"/>
          <a:stretch>
            <a:fillRect/>
          </a:stretch>
        </p:blipFill>
        <p:spPr>
          <a:xfrm>
            <a:off x="1101852" y="1376172"/>
            <a:ext cx="192024" cy="192024"/>
          </a:xfrm>
          <a:prstGeom prst="rect">
            <a:avLst/>
          </a:prstGeom>
        </p:spPr>
      </p:pic>
      <p:sp>
        <p:nvSpPr>
          <p:cNvPr id="6" name="Text 3"/>
          <p:cNvSpPr txBox="1"/>
          <p:nvPr/>
        </p:nvSpPr>
        <p:spPr>
          <a:xfrm>
            <a:off x="502920" y="1700784"/>
            <a:ext cx="1389888" cy="256032"/>
          </a:xfrm>
          <a:prstGeom prst="rect">
            <a:avLst/>
          </a:prstGeom>
          <a:noFill/>
          <a:ln/>
        </p:spPr>
        <p:txBody>
          <a:bodyPr wrap="square" lIns="0" tIns="0" rIns="0" bIns="0" rtlCol="0" anchor="t"/>
          <a:lstStyle/>
          <a:p>
            <a:pPr algn="ctr" indent="0" marL="0">
              <a:buNone/>
            </a:pPr>
            <a:r>
              <a:rPr lang="en-US" sz="1300" b="1" dirty="0">
                <a:solidFill>
                  <a:schemeClr val="tx1"/>
                </a:solidFill>
              </a:rPr>
              <a:t>Your apps</a:t>
            </a:r>
            <a:endParaRPr lang="en-US" sz="1300" dirty="0"/>
          </a:p>
        </p:txBody>
      </p:sp>
      <p:sp>
        <p:nvSpPr>
          <p:cNvPr id="7" name="Text 4"/>
          <p:cNvSpPr txBox="1"/>
          <p:nvPr/>
        </p:nvSpPr>
        <p:spPr>
          <a:xfrm>
            <a:off x="502920" y="1938528"/>
            <a:ext cx="1389888" cy="219456"/>
          </a:xfrm>
          <a:prstGeom prst="rect">
            <a:avLst/>
          </a:prstGeom>
          <a:noFill/>
          <a:ln/>
        </p:spPr>
        <p:txBody>
          <a:bodyPr wrap="square" lIns="0" tIns="0" rIns="0" bIns="0" rtlCol="0" anchor="t"/>
          <a:lstStyle/>
          <a:p>
            <a:pPr algn="ctr" indent="0" marL="0">
              <a:buNone/>
            </a:pPr>
            <a:r>
              <a:rPr lang="en-US" sz="1000" dirty="0">
                <a:solidFill>
                  <a:srgbClr val="5A6185"/>
                </a:solidFill>
              </a:rPr>
              <a:t>API key</a:t>
            </a:r>
            <a:endParaRPr lang="en-US" sz="1000" dirty="0"/>
          </a:p>
        </p:txBody>
      </p:sp>
      <p:sp>
        <p:nvSpPr>
          <p:cNvPr id="8" name="Client API box"/>
          <p:cNvSpPr/>
          <p:nvPr/>
        </p:nvSpPr>
        <p:spPr>
          <a:xfrm>
            <a:off x="2167128" y="1188720"/>
            <a:ext cx="1481328" cy="1024128"/>
          </a:xfrm>
          <a:prstGeom prst="roundRect">
            <a:avLst>
              <a:gd name="adj" fmla="val 8929"/>
            </a:avLst>
          </a:prstGeom>
          <a:solidFill>
            <a:schemeClr val="bg2"/>
          </a:solidFill>
          <a:ln w="12700">
            <a:solidFill>
              <a:srgbClr val="D5DBEA"/>
            </a:solidFill>
            <a:prstDash val="solid"/>
          </a:ln>
        </p:spPr>
      </p:sp>
      <p:sp>
        <p:nvSpPr>
          <p:cNvPr id="9" name="Client API circle"/>
          <p:cNvSpPr/>
          <p:nvPr/>
        </p:nvSpPr>
        <p:spPr>
          <a:xfrm>
            <a:off x="2715768" y="1280160"/>
            <a:ext cx="384048" cy="384048"/>
          </a:xfrm>
          <a:prstGeom prst="ellipse">
            <a:avLst/>
          </a:prstGeom>
          <a:solidFill>
            <a:schemeClr val="accent1"/>
          </a:solidFill>
          <a:ln w="12700">
            <a:solidFill>
              <a:schemeClr val="accent1"/>
            </a:solidFill>
            <a:prstDash val="solid"/>
          </a:ln>
        </p:spPr>
      </p:sp>
      <p:pic>
        <p:nvPicPr>
          <p:cNvPr id="10" name="Client API icon" descr="Client API">    </p:cNvPr>
          <p:cNvPicPr>
            <a:picLocks noChangeAspect="1"/>
          </p:cNvPicPr>
          <p:nvPr/>
        </p:nvPicPr>
        <p:blipFill>
          <a:blip r:embed="rId2"/>
          <a:stretch>
            <a:fillRect/>
          </a:stretch>
        </p:blipFill>
        <p:spPr>
          <a:xfrm>
            <a:off x="2811780" y="1376172"/>
            <a:ext cx="192024" cy="192024"/>
          </a:xfrm>
          <a:prstGeom prst="rect">
            <a:avLst/>
          </a:prstGeom>
        </p:spPr>
      </p:pic>
      <p:sp>
        <p:nvSpPr>
          <p:cNvPr id="11" name="Text 7"/>
          <p:cNvSpPr txBox="1"/>
          <p:nvPr/>
        </p:nvSpPr>
        <p:spPr>
          <a:xfrm>
            <a:off x="2212848" y="1700784"/>
            <a:ext cx="1389888" cy="256032"/>
          </a:xfrm>
          <a:prstGeom prst="rect">
            <a:avLst/>
          </a:prstGeom>
          <a:noFill/>
          <a:ln/>
        </p:spPr>
        <p:txBody>
          <a:bodyPr wrap="square" lIns="0" tIns="0" rIns="0" bIns="0" rtlCol="0" anchor="t"/>
          <a:lstStyle/>
          <a:p>
            <a:pPr algn="ctr" indent="0" marL="0">
              <a:buNone/>
            </a:pPr>
            <a:r>
              <a:rPr lang="en-US" sz="1300" b="1" dirty="0">
                <a:solidFill>
                  <a:schemeClr val="tx1"/>
                </a:solidFill>
              </a:rPr>
              <a:t>Client API</a:t>
            </a:r>
            <a:endParaRPr lang="en-US" sz="1300" dirty="0"/>
          </a:p>
        </p:txBody>
      </p:sp>
      <p:sp>
        <p:nvSpPr>
          <p:cNvPr id="12" name="Text 8"/>
          <p:cNvSpPr txBox="1"/>
          <p:nvPr/>
        </p:nvSpPr>
        <p:spPr>
          <a:xfrm>
            <a:off x="2212848" y="1938528"/>
            <a:ext cx="1389888" cy="219456"/>
          </a:xfrm>
          <a:prstGeom prst="rect">
            <a:avLst/>
          </a:prstGeom>
          <a:noFill/>
          <a:ln/>
        </p:spPr>
        <p:txBody>
          <a:bodyPr wrap="square" lIns="0" tIns="0" rIns="0" bIns="0" rtlCol="0" anchor="t"/>
          <a:lstStyle/>
          <a:p>
            <a:pPr algn="ctr" indent="0" marL="0">
              <a:buNone/>
            </a:pPr>
            <a:r>
              <a:rPr lang="en-US" sz="1000" dirty="0">
                <a:solidFill>
                  <a:srgbClr val="5A6185"/>
                </a:solidFill>
              </a:rPr>
              <a:t>202 in milliseconds</a:t>
            </a:r>
            <a:endParaRPr lang="en-US" sz="1000" dirty="0"/>
          </a:p>
        </p:txBody>
      </p:sp>
      <p:sp>
        <p:nvSpPr>
          <p:cNvPr id="13" name="PostgreSQL box"/>
          <p:cNvSpPr/>
          <p:nvPr/>
        </p:nvSpPr>
        <p:spPr>
          <a:xfrm>
            <a:off x="3877056" y="1188720"/>
            <a:ext cx="1481328" cy="1024128"/>
          </a:xfrm>
          <a:prstGeom prst="roundRect">
            <a:avLst>
              <a:gd name="adj" fmla="val 8929"/>
            </a:avLst>
          </a:prstGeom>
          <a:solidFill>
            <a:schemeClr val="bg2"/>
          </a:solidFill>
          <a:ln w="12700">
            <a:solidFill>
              <a:srgbClr val="D5DBEA"/>
            </a:solidFill>
            <a:prstDash val="solid"/>
          </a:ln>
        </p:spPr>
      </p:sp>
      <p:sp>
        <p:nvSpPr>
          <p:cNvPr id="14" name="PostgreSQL circle"/>
          <p:cNvSpPr/>
          <p:nvPr/>
        </p:nvSpPr>
        <p:spPr>
          <a:xfrm>
            <a:off x="4425696" y="1280160"/>
            <a:ext cx="384048" cy="384048"/>
          </a:xfrm>
          <a:prstGeom prst="ellipse">
            <a:avLst/>
          </a:prstGeom>
          <a:solidFill>
            <a:schemeClr val="accent3"/>
          </a:solidFill>
          <a:ln w="12700">
            <a:solidFill>
              <a:schemeClr val="accent3"/>
            </a:solidFill>
            <a:prstDash val="solid"/>
          </a:ln>
        </p:spPr>
      </p:sp>
      <p:pic>
        <p:nvPicPr>
          <p:cNvPr id="15" name="PostgreSQL icon" descr="PostgreSQL">    </p:cNvPr>
          <p:cNvPicPr>
            <a:picLocks noChangeAspect="1"/>
          </p:cNvPicPr>
          <p:nvPr/>
        </p:nvPicPr>
        <p:blipFill>
          <a:blip r:embed="rId3"/>
          <a:stretch>
            <a:fillRect/>
          </a:stretch>
        </p:blipFill>
        <p:spPr>
          <a:xfrm>
            <a:off x="4521708" y="1376172"/>
            <a:ext cx="192024" cy="192024"/>
          </a:xfrm>
          <a:prstGeom prst="rect">
            <a:avLst/>
          </a:prstGeom>
        </p:spPr>
      </p:pic>
      <p:sp>
        <p:nvSpPr>
          <p:cNvPr id="16" name="Text 11"/>
          <p:cNvSpPr txBox="1"/>
          <p:nvPr/>
        </p:nvSpPr>
        <p:spPr>
          <a:xfrm>
            <a:off x="3922776" y="1700784"/>
            <a:ext cx="1389888" cy="256032"/>
          </a:xfrm>
          <a:prstGeom prst="rect">
            <a:avLst/>
          </a:prstGeom>
          <a:noFill/>
          <a:ln/>
        </p:spPr>
        <p:txBody>
          <a:bodyPr wrap="square" lIns="0" tIns="0" rIns="0" bIns="0" rtlCol="0" anchor="t"/>
          <a:lstStyle/>
          <a:p>
            <a:pPr algn="ctr" indent="0" marL="0">
              <a:buNone/>
            </a:pPr>
            <a:r>
              <a:rPr lang="en-US" sz="1300" b="1" dirty="0">
                <a:solidFill>
                  <a:schemeClr val="tx1"/>
                </a:solidFill>
              </a:rPr>
              <a:t>PostgreSQL</a:t>
            </a:r>
            <a:endParaRPr lang="en-US" sz="1300" dirty="0"/>
          </a:p>
        </p:txBody>
      </p:sp>
      <p:sp>
        <p:nvSpPr>
          <p:cNvPr id="17" name="Text 12"/>
          <p:cNvSpPr txBox="1"/>
          <p:nvPr/>
        </p:nvSpPr>
        <p:spPr>
          <a:xfrm>
            <a:off x="3922776" y="1938528"/>
            <a:ext cx="1389888" cy="219456"/>
          </a:xfrm>
          <a:prstGeom prst="rect">
            <a:avLst/>
          </a:prstGeom>
          <a:noFill/>
          <a:ln/>
        </p:spPr>
        <p:txBody>
          <a:bodyPr wrap="square" lIns="0" tIns="0" rIns="0" bIns="0" rtlCol="0" anchor="t"/>
          <a:lstStyle/>
          <a:p>
            <a:pPr algn="ctr" indent="0" marL="0">
              <a:buNone/>
            </a:pPr>
            <a:r>
              <a:rPr lang="en-US" sz="1000" dirty="0">
                <a:solidFill>
                  <a:srgbClr val="5A6185"/>
                </a:solidFill>
              </a:rPr>
              <a:t>durable outbox</a:t>
            </a:r>
            <a:endParaRPr lang="en-US" sz="1000" dirty="0"/>
          </a:p>
        </p:txBody>
      </p:sp>
      <p:sp>
        <p:nvSpPr>
          <p:cNvPr id="18" name="Apache Pulsar box"/>
          <p:cNvSpPr/>
          <p:nvPr/>
        </p:nvSpPr>
        <p:spPr>
          <a:xfrm>
            <a:off x="5586984" y="1188720"/>
            <a:ext cx="1481328" cy="1024128"/>
          </a:xfrm>
          <a:prstGeom prst="roundRect">
            <a:avLst>
              <a:gd name="adj" fmla="val 8929"/>
            </a:avLst>
          </a:prstGeom>
          <a:solidFill>
            <a:schemeClr val="bg2"/>
          </a:solidFill>
          <a:ln w="12700">
            <a:solidFill>
              <a:srgbClr val="D5DBEA"/>
            </a:solidFill>
            <a:prstDash val="solid"/>
          </a:ln>
        </p:spPr>
      </p:sp>
      <p:sp>
        <p:nvSpPr>
          <p:cNvPr id="19" name="Apache Pulsar circle"/>
          <p:cNvSpPr/>
          <p:nvPr/>
        </p:nvSpPr>
        <p:spPr>
          <a:xfrm>
            <a:off x="6135624" y="1280160"/>
            <a:ext cx="384048" cy="384048"/>
          </a:xfrm>
          <a:prstGeom prst="ellipse">
            <a:avLst/>
          </a:prstGeom>
          <a:solidFill>
            <a:schemeClr val="accent4"/>
          </a:solidFill>
          <a:ln w="12700">
            <a:solidFill>
              <a:schemeClr val="accent4"/>
            </a:solidFill>
            <a:prstDash val="solid"/>
          </a:ln>
        </p:spPr>
      </p:sp>
      <p:pic>
        <p:nvPicPr>
          <p:cNvPr id="20" name="Apache Pulsar icon" descr="Apache Pulsar">    </p:cNvPr>
          <p:cNvPicPr>
            <a:picLocks noChangeAspect="1"/>
          </p:cNvPicPr>
          <p:nvPr/>
        </p:nvPicPr>
        <p:blipFill>
          <a:blip r:embed="rId4"/>
          <a:stretch>
            <a:fillRect/>
          </a:stretch>
        </p:blipFill>
        <p:spPr>
          <a:xfrm>
            <a:off x="6231636" y="1376172"/>
            <a:ext cx="192024" cy="192024"/>
          </a:xfrm>
          <a:prstGeom prst="rect">
            <a:avLst/>
          </a:prstGeom>
        </p:spPr>
      </p:pic>
      <p:sp>
        <p:nvSpPr>
          <p:cNvPr id="21" name="Text 15"/>
          <p:cNvSpPr txBox="1"/>
          <p:nvPr/>
        </p:nvSpPr>
        <p:spPr>
          <a:xfrm>
            <a:off x="5632704" y="1700784"/>
            <a:ext cx="1389888" cy="256032"/>
          </a:xfrm>
          <a:prstGeom prst="rect">
            <a:avLst/>
          </a:prstGeom>
          <a:noFill/>
          <a:ln/>
        </p:spPr>
        <p:txBody>
          <a:bodyPr wrap="square" lIns="0" tIns="0" rIns="0" bIns="0" rtlCol="0" anchor="t"/>
          <a:lstStyle/>
          <a:p>
            <a:pPr algn="ctr" indent="0" marL="0">
              <a:buNone/>
            </a:pPr>
            <a:r>
              <a:rPr lang="en-US" sz="1300" b="1" dirty="0">
                <a:solidFill>
                  <a:schemeClr val="tx1"/>
                </a:solidFill>
              </a:rPr>
              <a:t>Apache Pulsar</a:t>
            </a:r>
            <a:endParaRPr lang="en-US" sz="1300" dirty="0"/>
          </a:p>
        </p:txBody>
      </p:sp>
      <p:sp>
        <p:nvSpPr>
          <p:cNvPr id="22" name="Text 16"/>
          <p:cNvSpPr txBox="1"/>
          <p:nvPr/>
        </p:nvSpPr>
        <p:spPr>
          <a:xfrm>
            <a:off x="5632704" y="1938528"/>
            <a:ext cx="1389888" cy="219456"/>
          </a:xfrm>
          <a:prstGeom prst="rect">
            <a:avLst/>
          </a:prstGeom>
          <a:noFill/>
          <a:ln/>
        </p:spPr>
        <p:txBody>
          <a:bodyPr wrap="square" lIns="0" tIns="0" rIns="0" bIns="0" rtlCol="0" anchor="t"/>
          <a:lstStyle/>
          <a:p>
            <a:pPr algn="ctr" indent="0" marL="0">
              <a:buNone/>
            </a:pPr>
            <a:r>
              <a:rPr lang="en-US" sz="1000" dirty="0">
                <a:solidFill>
                  <a:srgbClr val="5A6185"/>
                </a:solidFill>
              </a:rPr>
              <a:t>priority lanes</a:t>
            </a:r>
            <a:endParaRPr lang="en-US" sz="1000" dirty="0"/>
          </a:p>
        </p:txBody>
      </p:sp>
      <p:sp>
        <p:nvSpPr>
          <p:cNvPr id="23" name="Redis box"/>
          <p:cNvSpPr/>
          <p:nvPr/>
        </p:nvSpPr>
        <p:spPr>
          <a:xfrm>
            <a:off x="457200" y="2788920"/>
            <a:ext cx="1481328" cy="1024128"/>
          </a:xfrm>
          <a:prstGeom prst="roundRect">
            <a:avLst>
              <a:gd name="adj" fmla="val 8929"/>
            </a:avLst>
          </a:prstGeom>
          <a:solidFill>
            <a:schemeClr val="bg2"/>
          </a:solidFill>
          <a:ln w="12700">
            <a:solidFill>
              <a:srgbClr val="D5DBEA"/>
            </a:solidFill>
            <a:prstDash val="solid"/>
          </a:ln>
        </p:spPr>
      </p:sp>
      <p:sp>
        <p:nvSpPr>
          <p:cNvPr id="24" name="Redis circle"/>
          <p:cNvSpPr/>
          <p:nvPr/>
        </p:nvSpPr>
        <p:spPr>
          <a:xfrm>
            <a:off x="1005840" y="2880360"/>
            <a:ext cx="384048" cy="384048"/>
          </a:xfrm>
          <a:prstGeom prst="ellipse">
            <a:avLst/>
          </a:prstGeom>
          <a:solidFill>
            <a:srgbClr val="64748B"/>
          </a:solidFill>
          <a:ln w="12700">
            <a:solidFill>
              <a:srgbClr val="64748B"/>
            </a:solidFill>
            <a:prstDash val="solid"/>
          </a:ln>
        </p:spPr>
      </p:sp>
      <p:pic>
        <p:nvPicPr>
          <p:cNvPr id="25" name="Redis icon" descr="Redis">    </p:cNvPr>
          <p:cNvPicPr>
            <a:picLocks noChangeAspect="1"/>
          </p:cNvPicPr>
          <p:nvPr/>
        </p:nvPicPr>
        <p:blipFill>
          <a:blip r:embed="rId5"/>
          <a:stretch>
            <a:fillRect/>
          </a:stretch>
        </p:blipFill>
        <p:spPr>
          <a:xfrm>
            <a:off x="1101852" y="2976372"/>
            <a:ext cx="192024" cy="192024"/>
          </a:xfrm>
          <a:prstGeom prst="rect">
            <a:avLst/>
          </a:prstGeom>
        </p:spPr>
      </p:pic>
      <p:sp>
        <p:nvSpPr>
          <p:cNvPr id="26" name="Text 19"/>
          <p:cNvSpPr txBox="1"/>
          <p:nvPr/>
        </p:nvSpPr>
        <p:spPr>
          <a:xfrm>
            <a:off x="502920" y="3300984"/>
            <a:ext cx="1389888" cy="256032"/>
          </a:xfrm>
          <a:prstGeom prst="rect">
            <a:avLst/>
          </a:prstGeom>
          <a:noFill/>
          <a:ln/>
        </p:spPr>
        <p:txBody>
          <a:bodyPr wrap="square" lIns="0" tIns="0" rIns="0" bIns="0" rtlCol="0" anchor="t"/>
          <a:lstStyle/>
          <a:p>
            <a:pPr algn="ctr" indent="0" marL="0">
              <a:buNone/>
            </a:pPr>
            <a:r>
              <a:rPr lang="en-US" sz="1300" b="1" dirty="0">
                <a:solidFill>
                  <a:schemeClr val="tx1"/>
                </a:solidFill>
              </a:rPr>
              <a:t>Redis</a:t>
            </a:r>
            <a:endParaRPr lang="en-US" sz="1300" dirty="0"/>
          </a:p>
        </p:txBody>
      </p:sp>
      <p:sp>
        <p:nvSpPr>
          <p:cNvPr id="27" name="Text 20"/>
          <p:cNvSpPr txBox="1"/>
          <p:nvPr/>
        </p:nvSpPr>
        <p:spPr>
          <a:xfrm>
            <a:off x="502920" y="3538728"/>
            <a:ext cx="1389888" cy="219456"/>
          </a:xfrm>
          <a:prstGeom prst="rect">
            <a:avLst/>
          </a:prstGeom>
          <a:noFill/>
          <a:ln/>
        </p:spPr>
        <p:txBody>
          <a:bodyPr wrap="square" lIns="0" tIns="0" rIns="0" bIns="0" rtlCol="0" anchor="t"/>
          <a:lstStyle/>
          <a:p>
            <a:pPr algn="ctr" indent="0" marL="0">
              <a:buNone/>
            </a:pPr>
            <a:r>
              <a:rPr lang="en-US" sz="1000" dirty="0">
                <a:solidFill>
                  <a:srgbClr val="5A6185"/>
                </a:solidFill>
              </a:rPr>
              <a:t>shared rate limits</a:t>
            </a:r>
            <a:endParaRPr lang="en-US" sz="1000" dirty="0"/>
          </a:p>
        </p:txBody>
      </p:sp>
      <p:sp>
        <p:nvSpPr>
          <p:cNvPr id="28" name="Admin console box"/>
          <p:cNvSpPr/>
          <p:nvPr/>
        </p:nvSpPr>
        <p:spPr>
          <a:xfrm>
            <a:off x="2167128" y="2788920"/>
            <a:ext cx="1481328" cy="1024128"/>
          </a:xfrm>
          <a:prstGeom prst="roundRect">
            <a:avLst>
              <a:gd name="adj" fmla="val 8929"/>
            </a:avLst>
          </a:prstGeom>
          <a:solidFill>
            <a:schemeClr val="bg2"/>
          </a:solidFill>
          <a:ln w="12700">
            <a:solidFill>
              <a:srgbClr val="D5DBEA"/>
            </a:solidFill>
            <a:prstDash val="solid"/>
          </a:ln>
        </p:spPr>
      </p:sp>
      <p:sp>
        <p:nvSpPr>
          <p:cNvPr id="29" name="Admin console circle"/>
          <p:cNvSpPr/>
          <p:nvPr/>
        </p:nvSpPr>
        <p:spPr>
          <a:xfrm>
            <a:off x="2715768" y="2880360"/>
            <a:ext cx="384048" cy="384048"/>
          </a:xfrm>
          <a:prstGeom prst="ellipse">
            <a:avLst/>
          </a:prstGeom>
          <a:solidFill>
            <a:schemeClr val="tx1"/>
          </a:solidFill>
          <a:ln w="12700">
            <a:solidFill>
              <a:schemeClr val="tx1"/>
            </a:solidFill>
            <a:prstDash val="solid"/>
          </a:ln>
        </p:spPr>
      </p:sp>
      <p:pic>
        <p:nvPicPr>
          <p:cNvPr id="30" name="Admin console icon" descr="Admin console">    </p:cNvPr>
          <p:cNvPicPr>
            <a:picLocks noChangeAspect="1"/>
          </p:cNvPicPr>
          <p:nvPr/>
        </p:nvPicPr>
        <p:blipFill>
          <a:blip r:embed="rId6"/>
          <a:stretch>
            <a:fillRect/>
          </a:stretch>
        </p:blipFill>
        <p:spPr>
          <a:xfrm>
            <a:off x="2811780" y="2976372"/>
            <a:ext cx="192024" cy="192024"/>
          </a:xfrm>
          <a:prstGeom prst="rect">
            <a:avLst/>
          </a:prstGeom>
        </p:spPr>
      </p:pic>
      <p:sp>
        <p:nvSpPr>
          <p:cNvPr id="31" name="Text 23"/>
          <p:cNvSpPr txBox="1"/>
          <p:nvPr/>
        </p:nvSpPr>
        <p:spPr>
          <a:xfrm>
            <a:off x="2212848" y="3300984"/>
            <a:ext cx="1389888" cy="256032"/>
          </a:xfrm>
          <a:prstGeom prst="rect">
            <a:avLst/>
          </a:prstGeom>
          <a:noFill/>
          <a:ln/>
        </p:spPr>
        <p:txBody>
          <a:bodyPr wrap="square" lIns="0" tIns="0" rIns="0" bIns="0" rtlCol="0" anchor="t"/>
          <a:lstStyle/>
          <a:p>
            <a:pPr algn="ctr" indent="0" marL="0">
              <a:buNone/>
            </a:pPr>
            <a:r>
              <a:rPr lang="en-US" sz="1300" b="1" dirty="0">
                <a:solidFill>
                  <a:schemeClr val="tx1"/>
                </a:solidFill>
              </a:rPr>
              <a:t>Admin console</a:t>
            </a:r>
            <a:endParaRPr lang="en-US" sz="1300" dirty="0"/>
          </a:p>
        </p:txBody>
      </p:sp>
      <p:sp>
        <p:nvSpPr>
          <p:cNvPr id="32" name="Text 24"/>
          <p:cNvSpPr txBox="1"/>
          <p:nvPr/>
        </p:nvSpPr>
        <p:spPr>
          <a:xfrm>
            <a:off x="2212848" y="3538728"/>
            <a:ext cx="1389888" cy="219456"/>
          </a:xfrm>
          <a:prstGeom prst="rect">
            <a:avLst/>
          </a:prstGeom>
          <a:noFill/>
          <a:ln/>
        </p:spPr>
        <p:txBody>
          <a:bodyPr wrap="square" lIns="0" tIns="0" rIns="0" bIns="0" rtlCol="0" anchor="t"/>
          <a:lstStyle/>
          <a:p>
            <a:pPr algn="ctr" indent="0" marL="0">
              <a:buNone/>
            </a:pPr>
            <a:r>
              <a:rPr lang="en-US" sz="1000" dirty="0">
                <a:solidFill>
                  <a:srgbClr val="5A6185"/>
                </a:solidFill>
              </a:rPr>
              <a:t>operators</a:t>
            </a:r>
            <a:endParaRPr lang="en-US" sz="1000" dirty="0"/>
          </a:p>
        </p:txBody>
      </p:sp>
      <p:sp>
        <p:nvSpPr>
          <p:cNvPr id="33" name="Admin API box"/>
          <p:cNvSpPr/>
          <p:nvPr/>
        </p:nvSpPr>
        <p:spPr>
          <a:xfrm>
            <a:off x="3877056" y="2788920"/>
            <a:ext cx="1481328" cy="1024128"/>
          </a:xfrm>
          <a:prstGeom prst="roundRect">
            <a:avLst>
              <a:gd name="adj" fmla="val 8929"/>
            </a:avLst>
          </a:prstGeom>
          <a:solidFill>
            <a:schemeClr val="bg2"/>
          </a:solidFill>
          <a:ln w="12700">
            <a:solidFill>
              <a:srgbClr val="D5DBEA"/>
            </a:solidFill>
            <a:prstDash val="solid"/>
          </a:ln>
        </p:spPr>
      </p:sp>
      <p:sp>
        <p:nvSpPr>
          <p:cNvPr id="34" name="Admin API circle"/>
          <p:cNvSpPr/>
          <p:nvPr/>
        </p:nvSpPr>
        <p:spPr>
          <a:xfrm>
            <a:off x="4425696" y="2880360"/>
            <a:ext cx="384048" cy="384048"/>
          </a:xfrm>
          <a:prstGeom prst="ellipse">
            <a:avLst/>
          </a:prstGeom>
          <a:solidFill>
            <a:schemeClr val="accent6"/>
          </a:solidFill>
          <a:ln w="12700">
            <a:solidFill>
              <a:schemeClr val="accent6"/>
            </a:solidFill>
            <a:prstDash val="solid"/>
          </a:ln>
        </p:spPr>
      </p:sp>
      <p:pic>
        <p:nvPicPr>
          <p:cNvPr id="35" name="Admin API icon" descr="Admin API">    </p:cNvPr>
          <p:cNvPicPr>
            <a:picLocks noChangeAspect="1"/>
          </p:cNvPicPr>
          <p:nvPr/>
        </p:nvPicPr>
        <p:blipFill>
          <a:blip r:embed="rId7"/>
          <a:stretch>
            <a:fillRect/>
          </a:stretch>
        </p:blipFill>
        <p:spPr>
          <a:xfrm>
            <a:off x="4521708" y="2976372"/>
            <a:ext cx="192024" cy="192024"/>
          </a:xfrm>
          <a:prstGeom prst="rect">
            <a:avLst/>
          </a:prstGeom>
        </p:spPr>
      </p:pic>
      <p:sp>
        <p:nvSpPr>
          <p:cNvPr id="36" name="Text 27"/>
          <p:cNvSpPr txBox="1"/>
          <p:nvPr/>
        </p:nvSpPr>
        <p:spPr>
          <a:xfrm>
            <a:off x="3922776" y="3300984"/>
            <a:ext cx="1389888" cy="256032"/>
          </a:xfrm>
          <a:prstGeom prst="rect">
            <a:avLst/>
          </a:prstGeom>
          <a:noFill/>
          <a:ln/>
        </p:spPr>
        <p:txBody>
          <a:bodyPr wrap="square" lIns="0" tIns="0" rIns="0" bIns="0" rtlCol="0" anchor="t"/>
          <a:lstStyle/>
          <a:p>
            <a:pPr algn="ctr" indent="0" marL="0">
              <a:buNone/>
            </a:pPr>
            <a:r>
              <a:rPr lang="en-US" sz="1300" b="1" dirty="0">
                <a:solidFill>
                  <a:schemeClr val="tx1"/>
                </a:solidFill>
              </a:rPr>
              <a:t>Admin API</a:t>
            </a:r>
            <a:endParaRPr lang="en-US" sz="1300" dirty="0"/>
          </a:p>
        </p:txBody>
      </p:sp>
      <p:sp>
        <p:nvSpPr>
          <p:cNvPr id="37" name="Text 28"/>
          <p:cNvSpPr txBox="1"/>
          <p:nvPr/>
        </p:nvSpPr>
        <p:spPr>
          <a:xfrm>
            <a:off x="3922776" y="3538728"/>
            <a:ext cx="1389888" cy="219456"/>
          </a:xfrm>
          <a:prstGeom prst="rect">
            <a:avLst/>
          </a:prstGeom>
          <a:noFill/>
          <a:ln/>
        </p:spPr>
        <p:txBody>
          <a:bodyPr wrap="square" lIns="0" tIns="0" rIns="0" bIns="0" rtlCol="0" anchor="t"/>
          <a:lstStyle/>
          <a:p>
            <a:pPr algn="ctr" indent="0" marL="0">
              <a:buNone/>
            </a:pPr>
            <a:r>
              <a:rPr lang="en-US" sz="1000" dirty="0">
                <a:solidFill>
                  <a:srgbClr val="5A6185"/>
                </a:solidFill>
              </a:rPr>
              <a:t>every change audited</a:t>
            </a:r>
            <a:endParaRPr lang="en-US" sz="1000" dirty="0"/>
          </a:p>
        </p:txBody>
      </p:sp>
      <p:sp>
        <p:nvSpPr>
          <p:cNvPr id="38" name="Dispatcher box"/>
          <p:cNvSpPr/>
          <p:nvPr/>
        </p:nvSpPr>
        <p:spPr>
          <a:xfrm>
            <a:off x="5586984" y="2788920"/>
            <a:ext cx="1481328" cy="1024128"/>
          </a:xfrm>
          <a:prstGeom prst="roundRect">
            <a:avLst>
              <a:gd name="adj" fmla="val 8929"/>
            </a:avLst>
          </a:prstGeom>
          <a:solidFill>
            <a:schemeClr val="bg2"/>
          </a:solidFill>
          <a:ln w="12700">
            <a:solidFill>
              <a:srgbClr val="D5DBEA"/>
            </a:solidFill>
            <a:prstDash val="solid"/>
          </a:ln>
        </p:spPr>
      </p:sp>
      <p:sp>
        <p:nvSpPr>
          <p:cNvPr id="39" name="Dispatcher circle"/>
          <p:cNvSpPr/>
          <p:nvPr/>
        </p:nvSpPr>
        <p:spPr>
          <a:xfrm>
            <a:off x="6135624" y="2880360"/>
            <a:ext cx="384048" cy="384048"/>
          </a:xfrm>
          <a:prstGeom prst="ellipse">
            <a:avLst/>
          </a:prstGeom>
          <a:solidFill>
            <a:schemeClr val="accent2"/>
          </a:solidFill>
          <a:ln w="12700">
            <a:solidFill>
              <a:schemeClr val="accent2"/>
            </a:solidFill>
            <a:prstDash val="solid"/>
          </a:ln>
        </p:spPr>
      </p:sp>
      <p:pic>
        <p:nvPicPr>
          <p:cNvPr id="40" name="Dispatcher icon" descr="Dispatcher">    </p:cNvPr>
          <p:cNvPicPr>
            <a:picLocks noChangeAspect="1"/>
          </p:cNvPicPr>
          <p:nvPr/>
        </p:nvPicPr>
        <p:blipFill>
          <a:blip r:embed="rId8"/>
          <a:stretch>
            <a:fillRect/>
          </a:stretch>
        </p:blipFill>
        <p:spPr>
          <a:xfrm>
            <a:off x="6231636" y="2976372"/>
            <a:ext cx="192024" cy="192024"/>
          </a:xfrm>
          <a:prstGeom prst="rect">
            <a:avLst/>
          </a:prstGeom>
        </p:spPr>
      </p:pic>
      <p:sp>
        <p:nvSpPr>
          <p:cNvPr id="41" name="Text 31"/>
          <p:cNvSpPr txBox="1"/>
          <p:nvPr/>
        </p:nvSpPr>
        <p:spPr>
          <a:xfrm>
            <a:off x="5632704" y="3300984"/>
            <a:ext cx="1389888" cy="256032"/>
          </a:xfrm>
          <a:prstGeom prst="rect">
            <a:avLst/>
          </a:prstGeom>
          <a:noFill/>
          <a:ln/>
        </p:spPr>
        <p:txBody>
          <a:bodyPr wrap="square" lIns="0" tIns="0" rIns="0" bIns="0" rtlCol="0" anchor="t"/>
          <a:lstStyle/>
          <a:p>
            <a:pPr algn="ctr" indent="0" marL="0">
              <a:buNone/>
            </a:pPr>
            <a:r>
              <a:rPr lang="en-US" sz="1300" b="1" dirty="0">
                <a:solidFill>
                  <a:schemeClr val="tx1"/>
                </a:solidFill>
              </a:rPr>
              <a:t>Dispatcher</a:t>
            </a:r>
            <a:endParaRPr lang="en-US" sz="1300" dirty="0"/>
          </a:p>
        </p:txBody>
      </p:sp>
      <p:sp>
        <p:nvSpPr>
          <p:cNvPr id="42" name="Text 32"/>
          <p:cNvSpPr txBox="1"/>
          <p:nvPr/>
        </p:nvSpPr>
        <p:spPr>
          <a:xfrm>
            <a:off x="5632704" y="3538728"/>
            <a:ext cx="1389888" cy="219456"/>
          </a:xfrm>
          <a:prstGeom prst="rect">
            <a:avLst/>
          </a:prstGeom>
          <a:noFill/>
          <a:ln/>
        </p:spPr>
        <p:txBody>
          <a:bodyPr wrap="square" lIns="0" tIns="0" rIns="0" bIns="0" rtlCol="0" anchor="t"/>
          <a:lstStyle/>
          <a:p>
            <a:pPr algn="ctr" indent="0" marL="0">
              <a:buNone/>
            </a:pPr>
            <a:r>
              <a:rPr lang="en-US" sz="1000" dirty="0">
                <a:solidFill>
                  <a:srgbClr val="5A6185"/>
                </a:solidFill>
              </a:rPr>
              <a:t>retry and failover</a:t>
            </a:r>
            <a:endParaRPr lang="en-US" sz="1000" dirty="0"/>
          </a:p>
        </p:txBody>
      </p:sp>
      <p:sp>
        <p:nvSpPr>
          <p:cNvPr id="43" name="Providers box"/>
          <p:cNvSpPr/>
          <p:nvPr/>
        </p:nvSpPr>
        <p:spPr>
          <a:xfrm>
            <a:off x="7296912" y="2788920"/>
            <a:ext cx="1481328" cy="1024128"/>
          </a:xfrm>
          <a:prstGeom prst="roundRect">
            <a:avLst>
              <a:gd name="adj" fmla="val 8929"/>
            </a:avLst>
          </a:prstGeom>
          <a:solidFill>
            <a:schemeClr val="bg2"/>
          </a:solidFill>
          <a:ln w="12700">
            <a:solidFill>
              <a:srgbClr val="D5DBEA"/>
            </a:solidFill>
            <a:prstDash val="solid"/>
          </a:ln>
        </p:spPr>
      </p:sp>
      <p:sp>
        <p:nvSpPr>
          <p:cNvPr id="44" name="Providers circle"/>
          <p:cNvSpPr/>
          <p:nvPr/>
        </p:nvSpPr>
        <p:spPr>
          <a:xfrm>
            <a:off x="7845552" y="2880360"/>
            <a:ext cx="384048" cy="384048"/>
          </a:xfrm>
          <a:prstGeom prst="ellipse">
            <a:avLst/>
          </a:prstGeom>
          <a:solidFill>
            <a:schemeClr val="accent5"/>
          </a:solidFill>
          <a:ln w="12700">
            <a:solidFill>
              <a:schemeClr val="accent5"/>
            </a:solidFill>
            <a:prstDash val="solid"/>
          </a:ln>
        </p:spPr>
      </p:sp>
      <p:pic>
        <p:nvPicPr>
          <p:cNvPr id="45" name="Providers icon" descr="Providers">    </p:cNvPr>
          <p:cNvPicPr>
            <a:picLocks noChangeAspect="1"/>
          </p:cNvPicPr>
          <p:nvPr/>
        </p:nvPicPr>
        <p:blipFill>
          <a:blip r:embed="rId9"/>
          <a:stretch>
            <a:fillRect/>
          </a:stretch>
        </p:blipFill>
        <p:spPr>
          <a:xfrm>
            <a:off x="7941564" y="2976372"/>
            <a:ext cx="192024" cy="192024"/>
          </a:xfrm>
          <a:prstGeom prst="rect">
            <a:avLst/>
          </a:prstGeom>
        </p:spPr>
      </p:pic>
      <p:sp>
        <p:nvSpPr>
          <p:cNvPr id="46" name="Text 35"/>
          <p:cNvSpPr txBox="1"/>
          <p:nvPr/>
        </p:nvSpPr>
        <p:spPr>
          <a:xfrm>
            <a:off x="7342632" y="3300984"/>
            <a:ext cx="1389888" cy="256032"/>
          </a:xfrm>
          <a:prstGeom prst="rect">
            <a:avLst/>
          </a:prstGeom>
          <a:noFill/>
          <a:ln/>
        </p:spPr>
        <p:txBody>
          <a:bodyPr wrap="square" lIns="0" tIns="0" rIns="0" bIns="0" rtlCol="0" anchor="t"/>
          <a:lstStyle/>
          <a:p>
            <a:pPr algn="ctr" indent="0" marL="0">
              <a:buNone/>
            </a:pPr>
            <a:r>
              <a:rPr lang="en-US" sz="1300" b="1" dirty="0">
                <a:solidFill>
                  <a:schemeClr val="tx1"/>
                </a:solidFill>
              </a:rPr>
              <a:t>Providers</a:t>
            </a:r>
            <a:endParaRPr lang="en-US" sz="1300" dirty="0"/>
          </a:p>
        </p:txBody>
      </p:sp>
      <p:sp>
        <p:nvSpPr>
          <p:cNvPr id="47" name="Text 36"/>
          <p:cNvSpPr txBox="1"/>
          <p:nvPr/>
        </p:nvSpPr>
        <p:spPr>
          <a:xfrm>
            <a:off x="7342632" y="3538728"/>
            <a:ext cx="1389888" cy="219456"/>
          </a:xfrm>
          <a:prstGeom prst="rect">
            <a:avLst/>
          </a:prstGeom>
          <a:noFill/>
          <a:ln/>
        </p:spPr>
        <p:txBody>
          <a:bodyPr wrap="square" lIns="0" tIns="0" rIns="0" bIns="0" rtlCol="0" anchor="t"/>
          <a:lstStyle/>
          <a:p>
            <a:pPr algn="ctr" indent="0" marL="0">
              <a:buNone/>
            </a:pPr>
            <a:r>
              <a:rPr lang="en-US" sz="1000" dirty="0">
                <a:solidFill>
                  <a:srgbClr val="5A6185"/>
                </a:solidFill>
              </a:rPr>
              <a:t>SMTP and HTTP</a:t>
            </a:r>
            <a:endParaRPr lang="en-US" sz="1000" dirty="0"/>
          </a:p>
        </p:txBody>
      </p:sp>
      <p:sp>
        <p:nvSpPr>
          <p:cNvPr id="48" name="flow arrow 1"/>
          <p:cNvSpPr/>
          <p:nvPr/>
        </p:nvSpPr>
        <p:spPr>
          <a:xfrm>
            <a:off x="1938528" y="1700784"/>
            <a:ext cx="228600" cy="0"/>
          </a:xfrm>
          <a:prstGeom prst="line">
            <a:avLst/>
          </a:prstGeom>
          <a:noFill/>
          <a:ln w="22225">
            <a:solidFill>
              <a:srgbClr val="8A93B5"/>
            </a:solidFill>
            <a:prstDash val="solid"/>
            <a:tailEnd type="triangle"/>
          </a:ln>
        </p:spPr>
      </p:sp>
      <p:sp>
        <p:nvSpPr>
          <p:cNvPr id="49" name="flow arrow 2"/>
          <p:cNvSpPr/>
          <p:nvPr/>
        </p:nvSpPr>
        <p:spPr>
          <a:xfrm>
            <a:off x="3648456" y="1700784"/>
            <a:ext cx="228600" cy="0"/>
          </a:xfrm>
          <a:prstGeom prst="line">
            <a:avLst/>
          </a:prstGeom>
          <a:noFill/>
          <a:ln w="22225">
            <a:solidFill>
              <a:srgbClr val="8A93B5"/>
            </a:solidFill>
            <a:prstDash val="solid"/>
            <a:tailEnd type="triangle"/>
          </a:ln>
        </p:spPr>
      </p:sp>
      <p:sp>
        <p:nvSpPr>
          <p:cNvPr id="50" name="flow arrow 3"/>
          <p:cNvSpPr/>
          <p:nvPr/>
        </p:nvSpPr>
        <p:spPr>
          <a:xfrm>
            <a:off x="5358384" y="1700784"/>
            <a:ext cx="228600" cy="0"/>
          </a:xfrm>
          <a:prstGeom prst="line">
            <a:avLst/>
          </a:prstGeom>
          <a:noFill/>
          <a:ln w="22225">
            <a:solidFill>
              <a:srgbClr val="8A93B5"/>
            </a:solidFill>
            <a:prstDash val="solid"/>
            <a:tailEnd type="triangle"/>
          </a:ln>
        </p:spPr>
      </p:sp>
      <p:sp>
        <p:nvSpPr>
          <p:cNvPr id="51" name="flow arrow 4"/>
          <p:cNvSpPr/>
          <p:nvPr/>
        </p:nvSpPr>
        <p:spPr>
          <a:xfrm>
            <a:off x="3648456" y="3300984"/>
            <a:ext cx="228600" cy="0"/>
          </a:xfrm>
          <a:prstGeom prst="line">
            <a:avLst/>
          </a:prstGeom>
          <a:noFill/>
          <a:ln w="22225">
            <a:solidFill>
              <a:srgbClr val="8A93B5"/>
            </a:solidFill>
            <a:prstDash val="solid"/>
            <a:tailEnd type="triangle"/>
          </a:ln>
        </p:spPr>
      </p:sp>
      <p:sp>
        <p:nvSpPr>
          <p:cNvPr id="52" name="flow arrow 5"/>
          <p:cNvSpPr/>
          <p:nvPr/>
        </p:nvSpPr>
        <p:spPr>
          <a:xfrm>
            <a:off x="7068312" y="3300984"/>
            <a:ext cx="228600" cy="0"/>
          </a:xfrm>
          <a:prstGeom prst="line">
            <a:avLst/>
          </a:prstGeom>
          <a:noFill/>
          <a:ln w="22225">
            <a:solidFill>
              <a:srgbClr val="8A93B5"/>
            </a:solidFill>
            <a:prstDash val="solid"/>
            <a:tailEnd type="triangle"/>
          </a:ln>
        </p:spPr>
      </p:sp>
      <p:sp>
        <p:nvSpPr>
          <p:cNvPr id="53" name="flow arrow 6"/>
          <p:cNvSpPr/>
          <p:nvPr/>
        </p:nvSpPr>
        <p:spPr>
          <a:xfrm>
            <a:off x="6327648" y="2212848"/>
            <a:ext cx="0" cy="576072"/>
          </a:xfrm>
          <a:prstGeom prst="line">
            <a:avLst/>
          </a:prstGeom>
          <a:noFill/>
          <a:ln w="22225">
            <a:solidFill>
              <a:srgbClr val="8A93B5"/>
            </a:solidFill>
            <a:prstDash val="solid"/>
            <a:tailEnd type="triangle"/>
          </a:ln>
        </p:spPr>
      </p:sp>
      <p:sp>
        <p:nvSpPr>
          <p:cNvPr id="54" name="flow arrow 7"/>
          <p:cNvSpPr/>
          <p:nvPr/>
        </p:nvSpPr>
        <p:spPr>
          <a:xfrm flipV="1">
            <a:off x="4617720" y="2212848"/>
            <a:ext cx="0" cy="576072"/>
          </a:xfrm>
          <a:prstGeom prst="line">
            <a:avLst/>
          </a:prstGeom>
          <a:noFill/>
          <a:ln w="22225">
            <a:solidFill>
              <a:srgbClr val="8A93B5"/>
            </a:solidFill>
            <a:prstDash val="solid"/>
            <a:tailEnd type="triangle"/>
          </a:ln>
        </p:spPr>
      </p:sp>
      <p:sp>
        <p:nvSpPr>
          <p:cNvPr id="55" name="Text 44"/>
          <p:cNvSpPr txBox="1"/>
          <p:nvPr/>
        </p:nvSpPr>
        <p:spPr>
          <a:xfrm>
            <a:off x="457200" y="4041648"/>
            <a:ext cx="8229600" cy="548640"/>
          </a:xfrm>
          <a:prstGeom prst="rect">
            <a:avLst/>
          </a:prstGeom>
          <a:noFill/>
          <a:ln/>
        </p:spPr>
        <p:txBody>
          <a:bodyPr wrap="square" lIns="0" tIns="0" rIns="0" bIns="0" rtlCol="0" anchor="t"/>
          <a:lstStyle/>
          <a:p>
            <a:pPr indent="0" marL="0">
              <a:buNone/>
            </a:pPr>
            <a:r>
              <a:rPr lang="en-US" sz="1300" dirty="0">
                <a:solidFill>
                  <a:srgbClr val="3D4466"/>
                </a:solidFill>
              </a:rPr>
              <a:t>Requests are committed to PostgreSQL before anything else, so a broker or provider outage never loses one. Redis holds the rate limits both the API and the dispatcher apply.</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B739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640080"/>
          </a:xfrm>
          <a:prstGeom prst="rect">
            <a:avLst/>
          </a:prstGeom>
          <a:noFill/>
          <a:ln/>
        </p:spPr>
        <p:txBody>
          <a:bodyPr wrap="square" lIns="0" tIns="0" rIns="0" bIns="0" rtlCol="0" anchor="ctr"/>
          <a:lstStyle/>
          <a:p>
            <a:pPr indent="0" marL="0">
              <a:buNone/>
            </a:pPr>
            <a:r>
              <a:rPr lang="en-US" sz="3200" b="1" dirty="0">
                <a:solidFill>
                  <a:schemeClr val="tx1"/>
                </a:solidFill>
              </a:rPr>
              <a:t>From request to inbox</a:t>
            </a:r>
            <a:endParaRPr lang="en-US" sz="3200" dirty="0"/>
          </a:p>
        </p:txBody>
      </p:sp>
      <p:sp>
        <p:nvSpPr>
          <p:cNvPr id="3" name="journey line"/>
          <p:cNvSpPr/>
          <p:nvPr/>
        </p:nvSpPr>
        <p:spPr>
          <a:xfrm>
            <a:off x="1216152" y="1691640"/>
            <a:ext cx="6729984" cy="0"/>
          </a:xfrm>
          <a:prstGeom prst="line">
            <a:avLst/>
          </a:prstGeom>
          <a:noFill/>
          <a:ln w="38100">
            <a:solidFill>
              <a:srgbClr val="D5DBEA"/>
            </a:solidFill>
            <a:prstDash val="solid"/>
          </a:ln>
        </p:spPr>
      </p:sp>
      <p:sp>
        <p:nvSpPr>
          <p:cNvPr id="4" name="Accept circle"/>
          <p:cNvSpPr/>
          <p:nvPr/>
        </p:nvSpPr>
        <p:spPr>
          <a:xfrm>
            <a:off x="850392" y="1280160"/>
            <a:ext cx="731520" cy="731520"/>
          </a:xfrm>
          <a:prstGeom prst="ellipse">
            <a:avLst/>
          </a:prstGeom>
          <a:solidFill>
            <a:schemeClr val="accent1"/>
          </a:solidFill>
          <a:ln w="12700">
            <a:solidFill>
              <a:schemeClr val="accent1"/>
            </a:solidFill>
            <a:prstDash val="solid"/>
          </a:ln>
        </p:spPr>
      </p:sp>
      <p:pic>
        <p:nvPicPr>
          <p:cNvPr id="5" name="Accept icon" descr="Accept">    </p:cNvPr>
          <p:cNvPicPr>
            <a:picLocks noChangeAspect="1"/>
          </p:cNvPicPr>
          <p:nvPr/>
        </p:nvPicPr>
        <p:blipFill>
          <a:blip r:embed="rId1"/>
          <a:stretch>
            <a:fillRect/>
          </a:stretch>
        </p:blipFill>
        <p:spPr>
          <a:xfrm>
            <a:off x="1033272" y="1463040"/>
            <a:ext cx="365760" cy="365760"/>
          </a:xfrm>
          <a:prstGeom prst="rect">
            <a:avLst/>
          </a:prstGeom>
        </p:spPr>
      </p:pic>
      <p:sp>
        <p:nvSpPr>
          <p:cNvPr id="6" name="Text 3"/>
          <p:cNvSpPr txBox="1"/>
          <p:nvPr/>
        </p:nvSpPr>
        <p:spPr>
          <a:xfrm>
            <a:off x="457200" y="2194560"/>
            <a:ext cx="1517904" cy="365760"/>
          </a:xfrm>
          <a:prstGeom prst="rect">
            <a:avLst/>
          </a:prstGeom>
          <a:noFill/>
          <a:ln/>
        </p:spPr>
        <p:txBody>
          <a:bodyPr wrap="square" lIns="0" tIns="0" rIns="0" bIns="0" rtlCol="0" anchor="t"/>
          <a:lstStyle/>
          <a:p>
            <a:pPr algn="ctr" indent="0" marL="0">
              <a:buNone/>
            </a:pPr>
            <a:r>
              <a:rPr lang="en-US" sz="1700" b="1" dirty="0">
                <a:solidFill>
                  <a:schemeClr val="tx1"/>
                </a:solidFill>
              </a:rPr>
              <a:t>1. Accept</a:t>
            </a:r>
            <a:endParaRPr lang="en-US" sz="1700" dirty="0"/>
          </a:p>
        </p:txBody>
      </p:sp>
      <p:sp>
        <p:nvSpPr>
          <p:cNvPr id="7" name="Text 4"/>
          <p:cNvSpPr txBox="1"/>
          <p:nvPr/>
        </p:nvSpPr>
        <p:spPr>
          <a:xfrm>
            <a:off x="502920" y="2606040"/>
            <a:ext cx="1426464" cy="1463040"/>
          </a:xfrm>
          <a:prstGeom prst="rect">
            <a:avLst/>
          </a:prstGeom>
          <a:noFill/>
          <a:ln/>
        </p:spPr>
        <p:txBody>
          <a:bodyPr wrap="square" lIns="0" tIns="0" rIns="0" bIns="0" rtlCol="0" anchor="t"/>
          <a:lstStyle/>
          <a:p>
            <a:pPr algn="ctr" indent="0" marL="0">
              <a:buNone/>
            </a:pPr>
            <a:r>
              <a:rPr lang="en-US" sz="1300" dirty="0">
                <a:solidFill>
                  <a:srgbClr val="3D4466"/>
                </a:solidFill>
              </a:rPr>
              <a:t>Validated, billed and stored durably; the API answers 202 in milliseconds</a:t>
            </a:r>
            <a:endParaRPr lang="en-US" sz="1300" dirty="0"/>
          </a:p>
        </p:txBody>
      </p:sp>
      <p:sp>
        <p:nvSpPr>
          <p:cNvPr id="8" name="Queue circle"/>
          <p:cNvSpPr/>
          <p:nvPr/>
        </p:nvSpPr>
        <p:spPr>
          <a:xfrm>
            <a:off x="2532888" y="1280160"/>
            <a:ext cx="731520" cy="731520"/>
          </a:xfrm>
          <a:prstGeom prst="ellipse">
            <a:avLst/>
          </a:prstGeom>
          <a:solidFill>
            <a:schemeClr val="accent4"/>
          </a:solidFill>
          <a:ln w="12700">
            <a:solidFill>
              <a:schemeClr val="accent4"/>
            </a:solidFill>
            <a:prstDash val="solid"/>
          </a:ln>
        </p:spPr>
      </p:sp>
      <p:pic>
        <p:nvPicPr>
          <p:cNvPr id="9" name="Queue icon" descr="Queue">    </p:cNvPr>
          <p:cNvPicPr>
            <a:picLocks noChangeAspect="1"/>
          </p:cNvPicPr>
          <p:nvPr/>
        </p:nvPicPr>
        <p:blipFill>
          <a:blip r:embed="rId2"/>
          <a:stretch>
            <a:fillRect/>
          </a:stretch>
        </p:blipFill>
        <p:spPr>
          <a:xfrm>
            <a:off x="2715768" y="1463040"/>
            <a:ext cx="365760" cy="365760"/>
          </a:xfrm>
          <a:prstGeom prst="rect">
            <a:avLst/>
          </a:prstGeom>
        </p:spPr>
      </p:pic>
      <p:sp>
        <p:nvSpPr>
          <p:cNvPr id="10" name="Text 6"/>
          <p:cNvSpPr txBox="1"/>
          <p:nvPr/>
        </p:nvSpPr>
        <p:spPr>
          <a:xfrm>
            <a:off x="2139696" y="2194560"/>
            <a:ext cx="1517904" cy="365760"/>
          </a:xfrm>
          <a:prstGeom prst="rect">
            <a:avLst/>
          </a:prstGeom>
          <a:noFill/>
          <a:ln/>
        </p:spPr>
        <p:txBody>
          <a:bodyPr wrap="square" lIns="0" tIns="0" rIns="0" bIns="0" rtlCol="0" anchor="t"/>
          <a:lstStyle/>
          <a:p>
            <a:pPr algn="ctr" indent="0" marL="0">
              <a:buNone/>
            </a:pPr>
            <a:r>
              <a:rPr lang="en-US" sz="1700" b="1" dirty="0">
                <a:solidFill>
                  <a:schemeClr val="tx1"/>
                </a:solidFill>
              </a:rPr>
              <a:t>2. Queue</a:t>
            </a:r>
            <a:endParaRPr lang="en-US" sz="1700" dirty="0"/>
          </a:p>
        </p:txBody>
      </p:sp>
      <p:sp>
        <p:nvSpPr>
          <p:cNvPr id="11" name="Text 7"/>
          <p:cNvSpPr txBox="1"/>
          <p:nvPr/>
        </p:nvSpPr>
        <p:spPr>
          <a:xfrm>
            <a:off x="2185416" y="2606040"/>
            <a:ext cx="1426464" cy="1463040"/>
          </a:xfrm>
          <a:prstGeom prst="rect">
            <a:avLst/>
          </a:prstGeom>
          <a:noFill/>
          <a:ln/>
        </p:spPr>
        <p:txBody>
          <a:bodyPr wrap="square" lIns="0" tIns="0" rIns="0" bIns="0" rtlCol="0" anchor="t"/>
          <a:lstStyle/>
          <a:p>
            <a:pPr algn="ctr" indent="0" marL="0">
              <a:buNone/>
            </a:pPr>
            <a:r>
              <a:rPr lang="en-US" sz="1300" dirty="0">
                <a:solidFill>
                  <a:srgbClr val="3D4466"/>
                </a:solidFill>
              </a:rPr>
              <a:t>Published to Pulsar; a sweeper recovers anything that slipped</a:t>
            </a:r>
            <a:endParaRPr lang="en-US" sz="1300" dirty="0"/>
          </a:p>
        </p:txBody>
      </p:sp>
      <p:sp>
        <p:nvSpPr>
          <p:cNvPr id="12" name="Dispatch circle"/>
          <p:cNvSpPr/>
          <p:nvPr/>
        </p:nvSpPr>
        <p:spPr>
          <a:xfrm>
            <a:off x="4215384" y="1280160"/>
            <a:ext cx="731520" cy="731520"/>
          </a:xfrm>
          <a:prstGeom prst="ellipse">
            <a:avLst/>
          </a:prstGeom>
          <a:solidFill>
            <a:schemeClr val="accent3"/>
          </a:solidFill>
          <a:ln w="12700">
            <a:solidFill>
              <a:schemeClr val="accent3"/>
            </a:solidFill>
            <a:prstDash val="solid"/>
          </a:ln>
        </p:spPr>
      </p:sp>
      <p:pic>
        <p:nvPicPr>
          <p:cNvPr id="13" name="Dispatch icon" descr="Dispatch">    </p:cNvPr>
          <p:cNvPicPr>
            <a:picLocks noChangeAspect="1"/>
          </p:cNvPicPr>
          <p:nvPr/>
        </p:nvPicPr>
        <p:blipFill>
          <a:blip r:embed="rId3"/>
          <a:stretch>
            <a:fillRect/>
          </a:stretch>
        </p:blipFill>
        <p:spPr>
          <a:xfrm>
            <a:off x="4398264" y="1463040"/>
            <a:ext cx="365760" cy="365760"/>
          </a:xfrm>
          <a:prstGeom prst="rect">
            <a:avLst/>
          </a:prstGeom>
        </p:spPr>
      </p:pic>
      <p:sp>
        <p:nvSpPr>
          <p:cNvPr id="14" name="Text 9"/>
          <p:cNvSpPr txBox="1"/>
          <p:nvPr/>
        </p:nvSpPr>
        <p:spPr>
          <a:xfrm>
            <a:off x="3822192" y="2194560"/>
            <a:ext cx="1517904" cy="365760"/>
          </a:xfrm>
          <a:prstGeom prst="rect">
            <a:avLst/>
          </a:prstGeom>
          <a:noFill/>
          <a:ln/>
        </p:spPr>
        <p:txBody>
          <a:bodyPr wrap="square" lIns="0" tIns="0" rIns="0" bIns="0" rtlCol="0" anchor="t"/>
          <a:lstStyle/>
          <a:p>
            <a:pPr algn="ctr" indent="0" marL="0">
              <a:buNone/>
            </a:pPr>
            <a:r>
              <a:rPr lang="en-US" sz="1700" b="1" dirty="0">
                <a:solidFill>
                  <a:schemeClr val="tx1"/>
                </a:solidFill>
              </a:rPr>
              <a:t>3. Dispatch</a:t>
            </a:r>
            <a:endParaRPr lang="en-US" sz="1700" dirty="0"/>
          </a:p>
        </p:txBody>
      </p:sp>
      <p:sp>
        <p:nvSpPr>
          <p:cNvPr id="15" name="Text 10"/>
          <p:cNvSpPr txBox="1"/>
          <p:nvPr/>
        </p:nvSpPr>
        <p:spPr>
          <a:xfrm>
            <a:off x="3867912" y="2606040"/>
            <a:ext cx="1426464" cy="1463040"/>
          </a:xfrm>
          <a:prstGeom prst="rect">
            <a:avLst/>
          </a:prstGeom>
          <a:noFill/>
          <a:ln/>
        </p:spPr>
        <p:txBody>
          <a:bodyPr wrap="square" lIns="0" tIns="0" rIns="0" bIns="0" rtlCol="0" anchor="t"/>
          <a:lstStyle/>
          <a:p>
            <a:pPr algn="ctr" indent="0" marL="0">
              <a:buNone/>
            </a:pPr>
            <a:r>
              <a:rPr lang="en-US" sz="1300" dirty="0">
                <a:solidFill>
                  <a:srgbClr val="3D4466"/>
                </a:solidFill>
              </a:rPr>
              <a:t>Rate limits per tenant and channel, then the best provider</a:t>
            </a:r>
            <a:endParaRPr lang="en-US" sz="1300" dirty="0"/>
          </a:p>
        </p:txBody>
      </p:sp>
      <p:sp>
        <p:nvSpPr>
          <p:cNvPr id="16" name="Recover circle"/>
          <p:cNvSpPr/>
          <p:nvPr/>
        </p:nvSpPr>
        <p:spPr>
          <a:xfrm>
            <a:off x="5897880" y="1280160"/>
            <a:ext cx="731520" cy="731520"/>
          </a:xfrm>
          <a:prstGeom prst="ellipse">
            <a:avLst/>
          </a:prstGeom>
          <a:solidFill>
            <a:schemeClr val="accent2"/>
          </a:solidFill>
          <a:ln w="12700">
            <a:solidFill>
              <a:schemeClr val="accent2"/>
            </a:solidFill>
            <a:prstDash val="solid"/>
          </a:ln>
        </p:spPr>
      </p:sp>
      <p:pic>
        <p:nvPicPr>
          <p:cNvPr id="17" name="Recover icon" descr="Recover">    </p:cNvPr>
          <p:cNvPicPr>
            <a:picLocks noChangeAspect="1"/>
          </p:cNvPicPr>
          <p:nvPr/>
        </p:nvPicPr>
        <p:blipFill>
          <a:blip r:embed="rId4"/>
          <a:stretch>
            <a:fillRect/>
          </a:stretch>
        </p:blipFill>
        <p:spPr>
          <a:xfrm>
            <a:off x="6080760" y="1463040"/>
            <a:ext cx="365760" cy="365760"/>
          </a:xfrm>
          <a:prstGeom prst="rect">
            <a:avLst/>
          </a:prstGeom>
        </p:spPr>
      </p:pic>
      <p:sp>
        <p:nvSpPr>
          <p:cNvPr id="18" name="Text 12"/>
          <p:cNvSpPr txBox="1"/>
          <p:nvPr/>
        </p:nvSpPr>
        <p:spPr>
          <a:xfrm>
            <a:off x="5504688" y="2194560"/>
            <a:ext cx="1517904" cy="365760"/>
          </a:xfrm>
          <a:prstGeom prst="rect">
            <a:avLst/>
          </a:prstGeom>
          <a:noFill/>
          <a:ln/>
        </p:spPr>
        <p:txBody>
          <a:bodyPr wrap="square" lIns="0" tIns="0" rIns="0" bIns="0" rtlCol="0" anchor="t"/>
          <a:lstStyle/>
          <a:p>
            <a:pPr algn="ctr" indent="0" marL="0">
              <a:buNone/>
            </a:pPr>
            <a:r>
              <a:rPr lang="en-US" sz="1700" b="1" dirty="0">
                <a:solidFill>
                  <a:schemeClr val="tx1"/>
                </a:solidFill>
              </a:rPr>
              <a:t>4. Recover</a:t>
            </a:r>
            <a:endParaRPr lang="en-US" sz="1700" dirty="0"/>
          </a:p>
        </p:txBody>
      </p:sp>
      <p:sp>
        <p:nvSpPr>
          <p:cNvPr id="19" name="Text 13"/>
          <p:cNvSpPr txBox="1"/>
          <p:nvPr/>
        </p:nvSpPr>
        <p:spPr>
          <a:xfrm>
            <a:off x="5550408" y="2606040"/>
            <a:ext cx="1426464" cy="1463040"/>
          </a:xfrm>
          <a:prstGeom prst="rect">
            <a:avLst/>
          </a:prstGeom>
          <a:noFill/>
          <a:ln/>
        </p:spPr>
        <p:txBody>
          <a:bodyPr wrap="square" lIns="0" tIns="0" rIns="0" bIns="0" rtlCol="0" anchor="t"/>
          <a:lstStyle/>
          <a:p>
            <a:pPr algn="ctr" indent="0" marL="0">
              <a:buNone/>
            </a:pPr>
            <a:r>
              <a:rPr lang="en-US" sz="1300" dirty="0">
                <a:solidFill>
                  <a:srgbClr val="3D4466"/>
                </a:solidFill>
              </a:rPr>
              <a:t>Exponential back-off, circuit breakers, automatic failover</a:t>
            </a:r>
            <a:endParaRPr lang="en-US" sz="1300" dirty="0"/>
          </a:p>
        </p:txBody>
      </p:sp>
      <p:sp>
        <p:nvSpPr>
          <p:cNvPr id="20" name="Prove circle"/>
          <p:cNvSpPr/>
          <p:nvPr/>
        </p:nvSpPr>
        <p:spPr>
          <a:xfrm>
            <a:off x="7580376" y="1280160"/>
            <a:ext cx="731520" cy="731520"/>
          </a:xfrm>
          <a:prstGeom prst="ellipse">
            <a:avLst/>
          </a:prstGeom>
          <a:solidFill>
            <a:schemeClr val="accent5"/>
          </a:solidFill>
          <a:ln w="12700">
            <a:solidFill>
              <a:schemeClr val="accent5"/>
            </a:solidFill>
            <a:prstDash val="solid"/>
          </a:ln>
        </p:spPr>
      </p:sp>
      <p:pic>
        <p:nvPicPr>
          <p:cNvPr id="21" name="Prove icon" descr="Prove">    </p:cNvPr>
          <p:cNvPicPr>
            <a:picLocks noChangeAspect="1"/>
          </p:cNvPicPr>
          <p:nvPr/>
        </p:nvPicPr>
        <p:blipFill>
          <a:blip r:embed="rId5"/>
          <a:stretch>
            <a:fillRect/>
          </a:stretch>
        </p:blipFill>
        <p:spPr>
          <a:xfrm>
            <a:off x="7763256" y="1463040"/>
            <a:ext cx="365760" cy="365760"/>
          </a:xfrm>
          <a:prstGeom prst="rect">
            <a:avLst/>
          </a:prstGeom>
        </p:spPr>
      </p:pic>
      <p:sp>
        <p:nvSpPr>
          <p:cNvPr id="22" name="Text 15"/>
          <p:cNvSpPr txBox="1"/>
          <p:nvPr/>
        </p:nvSpPr>
        <p:spPr>
          <a:xfrm>
            <a:off x="7187184" y="2194560"/>
            <a:ext cx="1517904" cy="365760"/>
          </a:xfrm>
          <a:prstGeom prst="rect">
            <a:avLst/>
          </a:prstGeom>
          <a:noFill/>
          <a:ln/>
        </p:spPr>
        <p:txBody>
          <a:bodyPr wrap="square" lIns="0" tIns="0" rIns="0" bIns="0" rtlCol="0" anchor="t"/>
          <a:lstStyle/>
          <a:p>
            <a:pPr algn="ctr" indent="0" marL="0">
              <a:buNone/>
            </a:pPr>
            <a:r>
              <a:rPr lang="en-US" sz="1700" b="1" dirty="0">
                <a:solidFill>
                  <a:schemeClr val="tx1"/>
                </a:solidFill>
              </a:rPr>
              <a:t>5. Prove</a:t>
            </a:r>
            <a:endParaRPr lang="en-US" sz="1700" dirty="0"/>
          </a:p>
        </p:txBody>
      </p:sp>
      <p:sp>
        <p:nvSpPr>
          <p:cNvPr id="23" name="Text 16"/>
          <p:cNvSpPr txBox="1"/>
          <p:nvPr/>
        </p:nvSpPr>
        <p:spPr>
          <a:xfrm>
            <a:off x="7232904" y="2606040"/>
            <a:ext cx="1426464" cy="1463040"/>
          </a:xfrm>
          <a:prstGeom prst="rect">
            <a:avLst/>
          </a:prstGeom>
          <a:noFill/>
          <a:ln/>
        </p:spPr>
        <p:txBody>
          <a:bodyPr wrap="square" lIns="0" tIns="0" rIns="0" bIns="0" rtlCol="0" anchor="t"/>
          <a:lstStyle/>
          <a:p>
            <a:pPr algn="ctr" indent="0" marL="0">
              <a:buNone/>
            </a:pPr>
            <a:r>
              <a:rPr lang="en-US" sz="1300" dirty="0">
                <a:solidFill>
                  <a:srgbClr val="3D4466"/>
                </a:solidFill>
              </a:rPr>
              <a:t>Every step timestamped in an event log, ready to export</a:t>
            </a:r>
            <a:endParaRPr lang="en-US" sz="1300" dirty="0"/>
          </a:p>
        </p:txBody>
      </p:sp>
      <p:sp>
        <p:nvSpPr>
          <p:cNvPr id="24" name="Text 17"/>
          <p:cNvSpPr txBox="1"/>
          <p:nvPr/>
        </p:nvSpPr>
        <p:spPr>
          <a:xfrm>
            <a:off x="457200" y="4206240"/>
            <a:ext cx="8229600" cy="320040"/>
          </a:xfrm>
          <a:prstGeom prst="rect">
            <a:avLst/>
          </a:prstGeom>
          <a:noFill/>
          <a:ln/>
        </p:spPr>
        <p:txBody>
          <a:bodyPr wrap="square" lIns="0" tIns="0" rIns="0" bIns="0" rtlCol="0" anchor="t"/>
          <a:lstStyle/>
          <a:p>
            <a:pPr algn="ctr" indent="0" marL="0">
              <a:buNone/>
            </a:pPr>
            <a:r>
              <a:rPr lang="en-US" sz="1500" b="1" i="1" dirty="0">
                <a:solidFill>
                  <a:schemeClr val="accent1"/>
                </a:solidFill>
              </a:rPr>
              <a:t>Delivered at least once, never lost after acceptance.</a:t>
            </a:r>
            <a:endParaRPr lang="en-US" sz="15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B739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640080"/>
          </a:xfrm>
          <a:prstGeom prst="rect">
            <a:avLst/>
          </a:prstGeom>
          <a:noFill/>
          <a:ln/>
        </p:spPr>
        <p:txBody>
          <a:bodyPr wrap="square" lIns="0" tIns="0" rIns="0" bIns="0" rtlCol="0" anchor="ctr"/>
          <a:lstStyle/>
          <a:p>
            <a:pPr indent="0" marL="0">
              <a:buNone/>
            </a:pPr>
            <a:r>
              <a:rPr lang="en-US" sz="3200" b="1" dirty="0">
                <a:solidFill>
                  <a:schemeClr val="tx1"/>
                </a:solidFill>
              </a:rPr>
              <a:t>Built to keep delivering</a:t>
            </a:r>
            <a:endParaRPr lang="en-US" sz="3200" dirty="0"/>
          </a:p>
        </p:txBody>
      </p:sp>
      <p:sp>
        <p:nvSpPr>
          <p:cNvPr id="3" name="Circuit breakers card"/>
          <p:cNvSpPr/>
          <p:nvPr/>
        </p:nvSpPr>
        <p:spPr>
          <a:xfrm>
            <a:off x="457200" y="1188720"/>
            <a:ext cx="2651760" cy="1554480"/>
          </a:xfrm>
          <a:prstGeom prst="roundRect">
            <a:avLst>
              <a:gd name="adj" fmla="val 7059"/>
            </a:avLst>
          </a:prstGeom>
          <a:solidFill>
            <a:schemeClr val="bg2"/>
          </a:solidFill>
          <a:ln w="12700">
            <a:solidFill>
              <a:schemeClr val="bg2"/>
            </a:solidFill>
            <a:prstDash val="solid"/>
          </a:ln>
          <a:effectLst>
            <a:outerShdw sx="100000" sy="100000" kx="0" ky="0" algn="bl" rotWithShape="0" blurRad="76200" dist="25400" dir="5400000">
              <a:srgbClr val="161A36">
                <a:alpha val="10000"/>
              </a:srgbClr>
            </a:outerShdw>
          </a:effectLst>
        </p:spPr>
      </p:sp>
      <p:sp>
        <p:nvSpPr>
          <p:cNvPr id="4" name="Circuit breakers circle"/>
          <p:cNvSpPr/>
          <p:nvPr/>
        </p:nvSpPr>
        <p:spPr>
          <a:xfrm>
            <a:off x="640080" y="1389888"/>
            <a:ext cx="502920" cy="502920"/>
          </a:xfrm>
          <a:prstGeom prst="ellipse">
            <a:avLst/>
          </a:prstGeom>
          <a:solidFill>
            <a:schemeClr val="accent6"/>
          </a:solidFill>
          <a:ln w="12700">
            <a:solidFill>
              <a:schemeClr val="accent6"/>
            </a:solidFill>
            <a:prstDash val="solid"/>
          </a:ln>
        </p:spPr>
      </p:sp>
      <p:pic>
        <p:nvPicPr>
          <p:cNvPr id="5" name="Circuit breakers icon" descr="Circuit breakers">    </p:cNvPr>
          <p:cNvPicPr>
            <a:picLocks noChangeAspect="1"/>
          </p:cNvPicPr>
          <p:nvPr/>
        </p:nvPicPr>
        <p:blipFill>
          <a:blip r:embed="rId1"/>
          <a:stretch>
            <a:fillRect/>
          </a:stretch>
        </p:blipFill>
        <p:spPr>
          <a:xfrm>
            <a:off x="765810" y="1515618"/>
            <a:ext cx="251460" cy="251460"/>
          </a:xfrm>
          <a:prstGeom prst="rect">
            <a:avLst/>
          </a:prstGeom>
        </p:spPr>
      </p:pic>
      <p:sp>
        <p:nvSpPr>
          <p:cNvPr id="6" name="Text 3"/>
          <p:cNvSpPr txBox="1"/>
          <p:nvPr/>
        </p:nvSpPr>
        <p:spPr>
          <a:xfrm>
            <a:off x="1280160" y="1463040"/>
            <a:ext cx="1737360" cy="365760"/>
          </a:xfrm>
          <a:prstGeom prst="rect">
            <a:avLst/>
          </a:prstGeom>
          <a:noFill/>
          <a:ln/>
        </p:spPr>
        <p:txBody>
          <a:bodyPr wrap="square" lIns="0" tIns="0" rIns="0" bIns="0" rtlCol="0" anchor="ctr"/>
          <a:lstStyle/>
          <a:p>
            <a:pPr indent="0" marL="0">
              <a:buNone/>
            </a:pPr>
            <a:r>
              <a:rPr lang="en-US" sz="1500" b="1" dirty="0">
                <a:solidFill>
                  <a:schemeClr val="tx1"/>
                </a:solidFill>
              </a:rPr>
              <a:t>Circuit breakers</a:t>
            </a:r>
            <a:endParaRPr lang="en-US" sz="1500" dirty="0"/>
          </a:p>
        </p:txBody>
      </p:sp>
      <p:sp>
        <p:nvSpPr>
          <p:cNvPr id="7" name="Text 4"/>
          <p:cNvSpPr txBox="1"/>
          <p:nvPr/>
        </p:nvSpPr>
        <p:spPr>
          <a:xfrm>
            <a:off x="640080" y="1993392"/>
            <a:ext cx="2331720" cy="685800"/>
          </a:xfrm>
          <a:prstGeom prst="rect">
            <a:avLst/>
          </a:prstGeom>
          <a:noFill/>
          <a:ln/>
        </p:spPr>
        <p:txBody>
          <a:bodyPr wrap="square" lIns="0" tIns="0" rIns="0" bIns="0" rtlCol="0" anchor="t"/>
          <a:lstStyle/>
          <a:p>
            <a:pPr indent="0" marL="0">
              <a:buNone/>
            </a:pPr>
            <a:r>
              <a:rPr lang="en-US" sz="1200" dirty="0">
                <a:solidFill>
                  <a:srgbClr val="3D4466"/>
                </a:solidFill>
              </a:rPr>
              <a:t>Per provider and for the broker; a failing dependency is skipped, not waited on</a:t>
            </a:r>
            <a:endParaRPr lang="en-US" sz="1200" dirty="0"/>
          </a:p>
        </p:txBody>
      </p:sp>
      <p:sp>
        <p:nvSpPr>
          <p:cNvPr id="8" name="Automatic failover card"/>
          <p:cNvSpPr/>
          <p:nvPr/>
        </p:nvSpPr>
        <p:spPr>
          <a:xfrm>
            <a:off x="3246120" y="1188720"/>
            <a:ext cx="2651760" cy="1554480"/>
          </a:xfrm>
          <a:prstGeom prst="roundRect">
            <a:avLst>
              <a:gd name="adj" fmla="val 7059"/>
            </a:avLst>
          </a:prstGeom>
          <a:solidFill>
            <a:schemeClr val="bg2"/>
          </a:solidFill>
          <a:ln w="12700">
            <a:solidFill>
              <a:schemeClr val="bg2"/>
            </a:solidFill>
            <a:prstDash val="solid"/>
          </a:ln>
          <a:effectLst>
            <a:outerShdw sx="100000" sy="100000" kx="0" ky="0" algn="bl" rotWithShape="0" blurRad="76200" dist="25400" dir="5400000">
              <a:srgbClr val="161A36">
                <a:alpha val="10000"/>
              </a:srgbClr>
            </a:outerShdw>
          </a:effectLst>
        </p:spPr>
      </p:sp>
      <p:sp>
        <p:nvSpPr>
          <p:cNvPr id="9" name="Automatic failover circle"/>
          <p:cNvSpPr/>
          <p:nvPr/>
        </p:nvSpPr>
        <p:spPr>
          <a:xfrm>
            <a:off x="3429000" y="1389888"/>
            <a:ext cx="502920" cy="502920"/>
          </a:xfrm>
          <a:prstGeom prst="ellipse">
            <a:avLst/>
          </a:prstGeom>
          <a:solidFill>
            <a:schemeClr val="accent3"/>
          </a:solidFill>
          <a:ln w="12700">
            <a:solidFill>
              <a:schemeClr val="accent3"/>
            </a:solidFill>
            <a:prstDash val="solid"/>
          </a:ln>
        </p:spPr>
      </p:sp>
      <p:pic>
        <p:nvPicPr>
          <p:cNvPr id="10" name="Automatic failover icon" descr="Automatic failover">    </p:cNvPr>
          <p:cNvPicPr>
            <a:picLocks noChangeAspect="1"/>
          </p:cNvPicPr>
          <p:nvPr/>
        </p:nvPicPr>
        <p:blipFill>
          <a:blip r:embed="rId2"/>
          <a:stretch>
            <a:fillRect/>
          </a:stretch>
        </p:blipFill>
        <p:spPr>
          <a:xfrm>
            <a:off x="3554730" y="1515618"/>
            <a:ext cx="251460" cy="251460"/>
          </a:xfrm>
          <a:prstGeom prst="rect">
            <a:avLst/>
          </a:prstGeom>
        </p:spPr>
      </p:pic>
      <p:sp>
        <p:nvSpPr>
          <p:cNvPr id="11" name="Text 7"/>
          <p:cNvSpPr txBox="1"/>
          <p:nvPr/>
        </p:nvSpPr>
        <p:spPr>
          <a:xfrm>
            <a:off x="4069080" y="1463040"/>
            <a:ext cx="1737360" cy="365760"/>
          </a:xfrm>
          <a:prstGeom prst="rect">
            <a:avLst/>
          </a:prstGeom>
          <a:noFill/>
          <a:ln/>
        </p:spPr>
        <p:txBody>
          <a:bodyPr wrap="square" lIns="0" tIns="0" rIns="0" bIns="0" rtlCol="0" anchor="ctr"/>
          <a:lstStyle/>
          <a:p>
            <a:pPr indent="0" marL="0">
              <a:buNone/>
            </a:pPr>
            <a:r>
              <a:rPr lang="en-US" sz="1500" b="1" dirty="0">
                <a:solidFill>
                  <a:schemeClr val="tx1"/>
                </a:solidFill>
              </a:rPr>
              <a:t>Automatic failover</a:t>
            </a:r>
            <a:endParaRPr lang="en-US" sz="1500" dirty="0"/>
          </a:p>
        </p:txBody>
      </p:sp>
      <p:sp>
        <p:nvSpPr>
          <p:cNvPr id="12" name="Text 8"/>
          <p:cNvSpPr txBox="1"/>
          <p:nvPr/>
        </p:nvSpPr>
        <p:spPr>
          <a:xfrm>
            <a:off x="3429000" y="1993392"/>
            <a:ext cx="2331720" cy="685800"/>
          </a:xfrm>
          <a:prstGeom prst="rect">
            <a:avLst/>
          </a:prstGeom>
          <a:noFill/>
          <a:ln/>
        </p:spPr>
        <p:txBody>
          <a:bodyPr wrap="square" lIns="0" tIns="0" rIns="0" bIns="0" rtlCol="0" anchor="t"/>
          <a:lstStyle/>
          <a:p>
            <a:pPr indent="0" marL="0">
              <a:buNone/>
            </a:pPr>
            <a:r>
              <a:rPr lang="en-US" sz="1200" dirty="0">
                <a:solidFill>
                  <a:srgbClr val="3D4466"/>
                </a:solidFill>
              </a:rPr>
              <a:t>Providers ranked per channel; the next one takes over at once</a:t>
            </a:r>
            <a:endParaRPr lang="en-US" sz="1200" dirty="0"/>
          </a:p>
        </p:txBody>
      </p:sp>
      <p:sp>
        <p:nvSpPr>
          <p:cNvPr id="13" name="Transactional outbox card"/>
          <p:cNvSpPr/>
          <p:nvPr/>
        </p:nvSpPr>
        <p:spPr>
          <a:xfrm>
            <a:off x="6035040" y="1188720"/>
            <a:ext cx="2651760" cy="1554480"/>
          </a:xfrm>
          <a:prstGeom prst="roundRect">
            <a:avLst>
              <a:gd name="adj" fmla="val 7059"/>
            </a:avLst>
          </a:prstGeom>
          <a:solidFill>
            <a:schemeClr val="bg2"/>
          </a:solidFill>
          <a:ln w="12700">
            <a:solidFill>
              <a:schemeClr val="bg2"/>
            </a:solidFill>
            <a:prstDash val="solid"/>
          </a:ln>
          <a:effectLst>
            <a:outerShdw sx="100000" sy="100000" kx="0" ky="0" algn="bl" rotWithShape="0" blurRad="76200" dist="25400" dir="5400000">
              <a:srgbClr val="161A36">
                <a:alpha val="10000"/>
              </a:srgbClr>
            </a:outerShdw>
          </a:effectLst>
        </p:spPr>
      </p:sp>
      <p:sp>
        <p:nvSpPr>
          <p:cNvPr id="14" name="Transactional outbox circle"/>
          <p:cNvSpPr/>
          <p:nvPr/>
        </p:nvSpPr>
        <p:spPr>
          <a:xfrm>
            <a:off x="6217920" y="1389888"/>
            <a:ext cx="502920" cy="502920"/>
          </a:xfrm>
          <a:prstGeom prst="ellipse">
            <a:avLst/>
          </a:prstGeom>
          <a:solidFill>
            <a:schemeClr val="accent1"/>
          </a:solidFill>
          <a:ln w="12700">
            <a:solidFill>
              <a:schemeClr val="accent1"/>
            </a:solidFill>
            <a:prstDash val="solid"/>
          </a:ln>
        </p:spPr>
      </p:sp>
      <p:pic>
        <p:nvPicPr>
          <p:cNvPr id="15" name="Transactional outbox icon" descr="Transactional outbox">    </p:cNvPr>
          <p:cNvPicPr>
            <a:picLocks noChangeAspect="1"/>
          </p:cNvPicPr>
          <p:nvPr/>
        </p:nvPicPr>
        <p:blipFill>
          <a:blip r:embed="rId3"/>
          <a:stretch>
            <a:fillRect/>
          </a:stretch>
        </p:blipFill>
        <p:spPr>
          <a:xfrm>
            <a:off x="6343650" y="1515618"/>
            <a:ext cx="251460" cy="251460"/>
          </a:xfrm>
          <a:prstGeom prst="rect">
            <a:avLst/>
          </a:prstGeom>
        </p:spPr>
      </p:pic>
      <p:sp>
        <p:nvSpPr>
          <p:cNvPr id="16" name="Text 11"/>
          <p:cNvSpPr txBox="1"/>
          <p:nvPr/>
        </p:nvSpPr>
        <p:spPr>
          <a:xfrm>
            <a:off x="6858000" y="1463040"/>
            <a:ext cx="1737360" cy="365760"/>
          </a:xfrm>
          <a:prstGeom prst="rect">
            <a:avLst/>
          </a:prstGeom>
          <a:noFill/>
          <a:ln/>
        </p:spPr>
        <p:txBody>
          <a:bodyPr wrap="square" lIns="0" tIns="0" rIns="0" bIns="0" rtlCol="0" anchor="ctr"/>
          <a:lstStyle/>
          <a:p>
            <a:pPr indent="0" marL="0">
              <a:buNone/>
            </a:pPr>
            <a:r>
              <a:rPr lang="en-US" sz="1500" b="1" dirty="0">
                <a:solidFill>
                  <a:schemeClr val="tx1"/>
                </a:solidFill>
              </a:rPr>
              <a:t>Transactional outbox</a:t>
            </a:r>
            <a:endParaRPr lang="en-US" sz="1500" dirty="0"/>
          </a:p>
        </p:txBody>
      </p:sp>
      <p:sp>
        <p:nvSpPr>
          <p:cNvPr id="17" name="Text 12"/>
          <p:cNvSpPr txBox="1"/>
          <p:nvPr/>
        </p:nvSpPr>
        <p:spPr>
          <a:xfrm>
            <a:off x="6217920" y="1993392"/>
            <a:ext cx="2331720" cy="685800"/>
          </a:xfrm>
          <a:prstGeom prst="rect">
            <a:avLst/>
          </a:prstGeom>
          <a:noFill/>
          <a:ln/>
        </p:spPr>
        <p:txBody>
          <a:bodyPr wrap="square" lIns="0" tIns="0" rIns="0" bIns="0" rtlCol="0" anchor="t"/>
          <a:lstStyle/>
          <a:p>
            <a:pPr indent="0" marL="0">
              <a:buNone/>
            </a:pPr>
            <a:r>
              <a:rPr lang="en-US" sz="1200" dirty="0">
                <a:solidFill>
                  <a:srgbClr val="3D4466"/>
                </a:solidFill>
              </a:rPr>
              <a:t>Accepts commit to PostgreSQL first; nothing accepted is lost</a:t>
            </a:r>
            <a:endParaRPr lang="en-US" sz="1200" dirty="0"/>
          </a:p>
        </p:txBody>
      </p:sp>
      <p:sp>
        <p:nvSpPr>
          <p:cNvPr id="18" name="Dead-letter recovery card"/>
          <p:cNvSpPr/>
          <p:nvPr/>
        </p:nvSpPr>
        <p:spPr>
          <a:xfrm>
            <a:off x="457200" y="2880360"/>
            <a:ext cx="2651760" cy="1554480"/>
          </a:xfrm>
          <a:prstGeom prst="roundRect">
            <a:avLst>
              <a:gd name="adj" fmla="val 7059"/>
            </a:avLst>
          </a:prstGeom>
          <a:solidFill>
            <a:schemeClr val="bg2"/>
          </a:solidFill>
          <a:ln w="12700">
            <a:solidFill>
              <a:schemeClr val="bg2"/>
            </a:solidFill>
            <a:prstDash val="solid"/>
          </a:ln>
          <a:effectLst>
            <a:outerShdw sx="100000" sy="100000" kx="0" ky="0" algn="bl" rotWithShape="0" blurRad="76200" dist="25400" dir="5400000">
              <a:srgbClr val="161A36">
                <a:alpha val="10000"/>
              </a:srgbClr>
            </a:outerShdw>
          </a:effectLst>
        </p:spPr>
      </p:sp>
      <p:sp>
        <p:nvSpPr>
          <p:cNvPr id="19" name="Dead-letter recovery circle"/>
          <p:cNvSpPr/>
          <p:nvPr/>
        </p:nvSpPr>
        <p:spPr>
          <a:xfrm>
            <a:off x="640080" y="3081528"/>
            <a:ext cx="502920" cy="502920"/>
          </a:xfrm>
          <a:prstGeom prst="ellipse">
            <a:avLst/>
          </a:prstGeom>
          <a:solidFill>
            <a:schemeClr val="accent2"/>
          </a:solidFill>
          <a:ln w="12700">
            <a:solidFill>
              <a:schemeClr val="accent2"/>
            </a:solidFill>
            <a:prstDash val="solid"/>
          </a:ln>
        </p:spPr>
      </p:sp>
      <p:pic>
        <p:nvPicPr>
          <p:cNvPr id="20" name="Dead-letter recovery icon" descr="Dead-letter recovery">    </p:cNvPr>
          <p:cNvPicPr>
            <a:picLocks noChangeAspect="1"/>
          </p:cNvPicPr>
          <p:nvPr/>
        </p:nvPicPr>
        <p:blipFill>
          <a:blip r:embed="rId4"/>
          <a:stretch>
            <a:fillRect/>
          </a:stretch>
        </p:blipFill>
        <p:spPr>
          <a:xfrm>
            <a:off x="765810" y="3207258"/>
            <a:ext cx="251460" cy="251460"/>
          </a:xfrm>
          <a:prstGeom prst="rect">
            <a:avLst/>
          </a:prstGeom>
        </p:spPr>
      </p:pic>
      <p:sp>
        <p:nvSpPr>
          <p:cNvPr id="21" name="Text 15"/>
          <p:cNvSpPr txBox="1"/>
          <p:nvPr/>
        </p:nvSpPr>
        <p:spPr>
          <a:xfrm>
            <a:off x="1280160" y="3154680"/>
            <a:ext cx="1737360" cy="365760"/>
          </a:xfrm>
          <a:prstGeom prst="rect">
            <a:avLst/>
          </a:prstGeom>
          <a:noFill/>
          <a:ln/>
        </p:spPr>
        <p:txBody>
          <a:bodyPr wrap="square" lIns="0" tIns="0" rIns="0" bIns="0" rtlCol="0" anchor="ctr"/>
          <a:lstStyle/>
          <a:p>
            <a:pPr indent="0" marL="0">
              <a:buNone/>
            </a:pPr>
            <a:r>
              <a:rPr lang="en-US" sz="1500" b="1" dirty="0">
                <a:solidFill>
                  <a:schemeClr val="tx1"/>
                </a:solidFill>
              </a:rPr>
              <a:t>Dead-letter recovery</a:t>
            </a:r>
            <a:endParaRPr lang="en-US" sz="1500" dirty="0"/>
          </a:p>
        </p:txBody>
      </p:sp>
      <p:sp>
        <p:nvSpPr>
          <p:cNvPr id="22" name="Text 16"/>
          <p:cNvSpPr txBox="1"/>
          <p:nvPr/>
        </p:nvSpPr>
        <p:spPr>
          <a:xfrm>
            <a:off x="640080" y="3685032"/>
            <a:ext cx="2331720" cy="685800"/>
          </a:xfrm>
          <a:prstGeom prst="rect">
            <a:avLst/>
          </a:prstGeom>
          <a:noFill/>
          <a:ln/>
        </p:spPr>
        <p:txBody>
          <a:bodyPr wrap="square" lIns="0" tIns="0" rIns="0" bIns="0" rtlCol="0" anchor="t"/>
          <a:lstStyle/>
          <a:p>
            <a:pPr indent="0" marL="0">
              <a:buNone/>
            </a:pPr>
            <a:r>
              <a:rPr lang="en-US" sz="1200" dirty="0">
                <a:solidFill>
                  <a:srgbClr val="3D4466"/>
                </a:solidFill>
              </a:rPr>
              <a:t>Failed messages grouped by cause and reprocessed in bulk</a:t>
            </a:r>
            <a:endParaRPr lang="en-US" sz="1200" dirty="0"/>
          </a:p>
        </p:txBody>
      </p:sp>
      <p:sp>
        <p:nvSpPr>
          <p:cNvPr id="23" name="Fair rate limits card"/>
          <p:cNvSpPr/>
          <p:nvPr/>
        </p:nvSpPr>
        <p:spPr>
          <a:xfrm>
            <a:off x="3246120" y="2880360"/>
            <a:ext cx="2651760" cy="1554480"/>
          </a:xfrm>
          <a:prstGeom prst="roundRect">
            <a:avLst>
              <a:gd name="adj" fmla="val 7059"/>
            </a:avLst>
          </a:prstGeom>
          <a:solidFill>
            <a:schemeClr val="bg2"/>
          </a:solidFill>
          <a:ln w="12700">
            <a:solidFill>
              <a:schemeClr val="bg2"/>
            </a:solidFill>
            <a:prstDash val="solid"/>
          </a:ln>
          <a:effectLst>
            <a:outerShdw sx="100000" sy="100000" kx="0" ky="0" algn="bl" rotWithShape="0" blurRad="76200" dist="25400" dir="5400000">
              <a:srgbClr val="161A36">
                <a:alpha val="10000"/>
              </a:srgbClr>
            </a:outerShdw>
          </a:effectLst>
        </p:spPr>
      </p:sp>
      <p:sp>
        <p:nvSpPr>
          <p:cNvPr id="24" name="Fair rate limits circle"/>
          <p:cNvSpPr/>
          <p:nvPr/>
        </p:nvSpPr>
        <p:spPr>
          <a:xfrm>
            <a:off x="3429000" y="3081528"/>
            <a:ext cx="502920" cy="502920"/>
          </a:xfrm>
          <a:prstGeom prst="ellipse">
            <a:avLst/>
          </a:prstGeom>
          <a:solidFill>
            <a:schemeClr val="accent4"/>
          </a:solidFill>
          <a:ln w="12700">
            <a:solidFill>
              <a:schemeClr val="accent4"/>
            </a:solidFill>
            <a:prstDash val="solid"/>
          </a:ln>
        </p:spPr>
      </p:sp>
      <p:pic>
        <p:nvPicPr>
          <p:cNvPr id="25" name="Fair rate limits icon" descr="Fair rate limits">    </p:cNvPr>
          <p:cNvPicPr>
            <a:picLocks noChangeAspect="1"/>
          </p:cNvPicPr>
          <p:nvPr/>
        </p:nvPicPr>
        <p:blipFill>
          <a:blip r:embed="rId5"/>
          <a:stretch>
            <a:fillRect/>
          </a:stretch>
        </p:blipFill>
        <p:spPr>
          <a:xfrm>
            <a:off x="3554730" y="3207258"/>
            <a:ext cx="251460" cy="251460"/>
          </a:xfrm>
          <a:prstGeom prst="rect">
            <a:avLst/>
          </a:prstGeom>
        </p:spPr>
      </p:pic>
      <p:sp>
        <p:nvSpPr>
          <p:cNvPr id="26" name="Text 19"/>
          <p:cNvSpPr txBox="1"/>
          <p:nvPr/>
        </p:nvSpPr>
        <p:spPr>
          <a:xfrm>
            <a:off x="4069080" y="3154680"/>
            <a:ext cx="1737360" cy="365760"/>
          </a:xfrm>
          <a:prstGeom prst="rect">
            <a:avLst/>
          </a:prstGeom>
          <a:noFill/>
          <a:ln/>
        </p:spPr>
        <p:txBody>
          <a:bodyPr wrap="square" lIns="0" tIns="0" rIns="0" bIns="0" rtlCol="0" anchor="ctr"/>
          <a:lstStyle/>
          <a:p>
            <a:pPr indent="0" marL="0">
              <a:buNone/>
            </a:pPr>
            <a:r>
              <a:rPr lang="en-US" sz="1500" b="1" dirty="0">
                <a:solidFill>
                  <a:schemeClr val="tx1"/>
                </a:solidFill>
              </a:rPr>
              <a:t>Fair rate limits</a:t>
            </a:r>
            <a:endParaRPr lang="en-US" sz="1500" dirty="0"/>
          </a:p>
        </p:txBody>
      </p:sp>
      <p:sp>
        <p:nvSpPr>
          <p:cNvPr id="27" name="Text 20"/>
          <p:cNvSpPr txBox="1"/>
          <p:nvPr/>
        </p:nvSpPr>
        <p:spPr>
          <a:xfrm>
            <a:off x="3429000" y="3685032"/>
            <a:ext cx="2331720" cy="685800"/>
          </a:xfrm>
          <a:prstGeom prst="rect">
            <a:avLst/>
          </a:prstGeom>
          <a:noFill/>
          <a:ln/>
        </p:spPr>
        <p:txBody>
          <a:bodyPr wrap="square" lIns="0" tIns="0" rIns="0" bIns="0" rtlCol="0" anchor="t"/>
          <a:lstStyle/>
          <a:p>
            <a:pPr indent="0" marL="0">
              <a:buNone/>
            </a:pPr>
            <a:r>
              <a:rPr lang="en-US" sz="1200" dirty="0">
                <a:solidFill>
                  <a:srgbClr val="3D4466"/>
                </a:solidFill>
              </a:rPr>
              <a:t>Per tenant and per channel, so one bulk send cannot crowd out others</a:t>
            </a:r>
            <a:endParaRPr lang="en-US" sz="1200" dirty="0"/>
          </a:p>
        </p:txBody>
      </p:sp>
      <p:sp>
        <p:nvSpPr>
          <p:cNvPr id="28" name="SLOs and alerts card"/>
          <p:cNvSpPr/>
          <p:nvPr/>
        </p:nvSpPr>
        <p:spPr>
          <a:xfrm>
            <a:off x="6035040" y="2880360"/>
            <a:ext cx="2651760" cy="1554480"/>
          </a:xfrm>
          <a:prstGeom prst="roundRect">
            <a:avLst>
              <a:gd name="adj" fmla="val 7059"/>
            </a:avLst>
          </a:prstGeom>
          <a:solidFill>
            <a:schemeClr val="bg2"/>
          </a:solidFill>
          <a:ln w="12700">
            <a:solidFill>
              <a:schemeClr val="bg2"/>
            </a:solidFill>
            <a:prstDash val="solid"/>
          </a:ln>
          <a:effectLst>
            <a:outerShdw sx="100000" sy="100000" kx="0" ky="0" algn="bl" rotWithShape="0" blurRad="76200" dist="25400" dir="5400000">
              <a:srgbClr val="161A36">
                <a:alpha val="10000"/>
              </a:srgbClr>
            </a:outerShdw>
          </a:effectLst>
        </p:spPr>
      </p:sp>
      <p:sp>
        <p:nvSpPr>
          <p:cNvPr id="29" name="SLOs and alerts circle"/>
          <p:cNvSpPr/>
          <p:nvPr/>
        </p:nvSpPr>
        <p:spPr>
          <a:xfrm>
            <a:off x="6217920" y="3081528"/>
            <a:ext cx="502920" cy="502920"/>
          </a:xfrm>
          <a:prstGeom prst="ellipse">
            <a:avLst/>
          </a:prstGeom>
          <a:solidFill>
            <a:schemeClr val="accent5"/>
          </a:solidFill>
          <a:ln w="12700">
            <a:solidFill>
              <a:schemeClr val="accent5"/>
            </a:solidFill>
            <a:prstDash val="solid"/>
          </a:ln>
        </p:spPr>
      </p:sp>
      <p:pic>
        <p:nvPicPr>
          <p:cNvPr id="30" name="SLOs and alerts icon" descr="SLOs and alerts">    </p:cNvPr>
          <p:cNvPicPr>
            <a:picLocks noChangeAspect="1"/>
          </p:cNvPicPr>
          <p:nvPr/>
        </p:nvPicPr>
        <p:blipFill>
          <a:blip r:embed="rId6"/>
          <a:stretch>
            <a:fillRect/>
          </a:stretch>
        </p:blipFill>
        <p:spPr>
          <a:xfrm>
            <a:off x="6343650" y="3207258"/>
            <a:ext cx="251460" cy="251460"/>
          </a:xfrm>
          <a:prstGeom prst="rect">
            <a:avLst/>
          </a:prstGeom>
        </p:spPr>
      </p:pic>
      <p:sp>
        <p:nvSpPr>
          <p:cNvPr id="31" name="Text 23"/>
          <p:cNvSpPr txBox="1"/>
          <p:nvPr/>
        </p:nvSpPr>
        <p:spPr>
          <a:xfrm>
            <a:off x="6858000" y="3154680"/>
            <a:ext cx="1737360" cy="365760"/>
          </a:xfrm>
          <a:prstGeom prst="rect">
            <a:avLst/>
          </a:prstGeom>
          <a:noFill/>
          <a:ln/>
        </p:spPr>
        <p:txBody>
          <a:bodyPr wrap="square" lIns="0" tIns="0" rIns="0" bIns="0" rtlCol="0" anchor="ctr"/>
          <a:lstStyle/>
          <a:p>
            <a:pPr indent="0" marL="0">
              <a:buNone/>
            </a:pPr>
            <a:r>
              <a:rPr lang="en-US" sz="1500" b="1" dirty="0">
                <a:solidFill>
                  <a:schemeClr val="tx1"/>
                </a:solidFill>
              </a:rPr>
              <a:t>SLOs and alerts</a:t>
            </a:r>
            <a:endParaRPr lang="en-US" sz="1500" dirty="0"/>
          </a:p>
        </p:txBody>
      </p:sp>
      <p:sp>
        <p:nvSpPr>
          <p:cNvPr id="32" name="Text 24"/>
          <p:cNvSpPr txBox="1"/>
          <p:nvPr/>
        </p:nvSpPr>
        <p:spPr>
          <a:xfrm>
            <a:off x="6217920" y="3685032"/>
            <a:ext cx="2331720" cy="685800"/>
          </a:xfrm>
          <a:prstGeom prst="rect">
            <a:avLst/>
          </a:prstGeom>
          <a:noFill/>
          <a:ln/>
        </p:spPr>
        <p:txBody>
          <a:bodyPr wrap="square" lIns="0" tIns="0" rIns="0" bIns="0" rtlCol="0" anchor="t"/>
          <a:lstStyle/>
          <a:p>
            <a:pPr indent="0" marL="0">
              <a:buNone/>
            </a:pPr>
            <a:r>
              <a:rPr lang="en-US" sz="1200" dirty="0">
                <a:solidFill>
                  <a:srgbClr val="3D4466"/>
                </a:solidFill>
              </a:rPr>
              <a:t>Availability, latency, freshness and OTP objectives with burn-rate alerts</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B739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640080"/>
          </a:xfrm>
          <a:prstGeom prst="rect">
            <a:avLst/>
          </a:prstGeom>
          <a:noFill/>
          <a:ln/>
        </p:spPr>
        <p:txBody>
          <a:bodyPr wrap="square" lIns="0" tIns="0" rIns="0" bIns="0" rtlCol="0" anchor="ctr"/>
          <a:lstStyle/>
          <a:p>
            <a:pPr indent="0" marL="0">
              <a:buNone/>
            </a:pPr>
            <a:r>
              <a:rPr lang="en-US" sz="3200" b="1" dirty="0">
                <a:solidFill>
                  <a:schemeClr val="tx1"/>
                </a:solidFill>
              </a:rPr>
              <a:t>One-time passwords, first class</a:t>
            </a:r>
            <a:endParaRPr lang="en-US" sz="3200" dirty="0"/>
          </a:p>
        </p:txBody>
      </p:sp>
      <p:sp>
        <p:nvSpPr>
          <p:cNvPr id="3" name="OTP highlight"/>
          <p:cNvSpPr/>
          <p:nvPr/>
        </p:nvSpPr>
        <p:spPr>
          <a:xfrm>
            <a:off x="457200" y="1188720"/>
            <a:ext cx="3200400" cy="3246120"/>
          </a:xfrm>
          <a:prstGeom prst="roundRect">
            <a:avLst>
              <a:gd name="adj" fmla="val 3429"/>
            </a:avLst>
          </a:prstGeom>
          <a:solidFill>
            <a:schemeClr val="tx1"/>
          </a:solidFill>
          <a:ln w="12700">
            <a:solidFill>
              <a:schemeClr val="tx1"/>
            </a:solidFill>
            <a:prstDash val="solid"/>
          </a:ln>
          <a:effectLst>
            <a:outerShdw sx="100000" sy="100000" kx="0" ky="0" algn="bl" rotWithShape="0" blurRad="76200" dist="25400" dir="5400000">
              <a:srgbClr val="161A36">
                <a:alpha val="10000"/>
              </a:srgbClr>
            </a:outerShdw>
          </a:effectLst>
        </p:spPr>
      </p:sp>
      <p:sp>
        <p:nvSpPr>
          <p:cNvPr id="4" name="OTP circle"/>
          <p:cNvSpPr/>
          <p:nvPr/>
        </p:nvSpPr>
        <p:spPr>
          <a:xfrm>
            <a:off x="731520" y="1463040"/>
            <a:ext cx="685800" cy="685800"/>
          </a:xfrm>
          <a:prstGeom prst="ellipse">
            <a:avLst/>
          </a:prstGeom>
          <a:solidFill>
            <a:schemeClr val="accent2"/>
          </a:solidFill>
          <a:ln w="12700">
            <a:solidFill>
              <a:schemeClr val="accent2"/>
            </a:solidFill>
            <a:prstDash val="solid"/>
          </a:ln>
        </p:spPr>
      </p:sp>
      <p:pic>
        <p:nvPicPr>
          <p:cNvPr id="5" name="OTP icon" descr="OTP">    </p:cNvPr>
          <p:cNvPicPr>
            <a:picLocks noChangeAspect="1"/>
          </p:cNvPicPr>
          <p:nvPr/>
        </p:nvPicPr>
        <p:blipFill>
          <a:blip r:embed="rId1"/>
          <a:stretch>
            <a:fillRect/>
          </a:stretch>
        </p:blipFill>
        <p:spPr>
          <a:xfrm>
            <a:off x="902970" y="1634490"/>
            <a:ext cx="342900" cy="342900"/>
          </a:xfrm>
          <a:prstGeom prst="rect">
            <a:avLst/>
          </a:prstGeom>
        </p:spPr>
      </p:pic>
      <p:sp>
        <p:nvSpPr>
          <p:cNvPr id="6" name="Text 3"/>
          <p:cNvSpPr txBox="1"/>
          <p:nvPr/>
        </p:nvSpPr>
        <p:spPr>
          <a:xfrm>
            <a:off x="731520" y="2331720"/>
            <a:ext cx="2743200" cy="777240"/>
          </a:xfrm>
          <a:prstGeom prst="rect">
            <a:avLst/>
          </a:prstGeom>
          <a:noFill/>
          <a:ln/>
        </p:spPr>
        <p:txBody>
          <a:bodyPr wrap="square" lIns="0" tIns="0" rIns="0" bIns="0" rtlCol="0" anchor="t"/>
          <a:lstStyle/>
          <a:p>
            <a:pPr indent="0" marL="0">
              <a:buNone/>
            </a:pPr>
            <a:r>
              <a:rPr lang="en-US" sz="4800" b="1" dirty="0">
                <a:solidFill>
                  <a:schemeClr val="accent1"/>
                </a:solidFill>
                <a:latin typeface="Arial" pitchFamily="34" charset="0"/>
                <a:ea typeface="Arial" pitchFamily="34" charset="-122"/>
                <a:cs typeface="Arial" pitchFamily="34" charset="-120"/>
              </a:rPr>
              <a:t>99 %</a:t>
            </a:r>
            <a:endParaRPr lang="en-US" sz="4800" dirty="0"/>
          </a:p>
        </p:txBody>
      </p:sp>
      <p:sp>
        <p:nvSpPr>
          <p:cNvPr id="7" name="Text 4"/>
          <p:cNvSpPr txBox="1"/>
          <p:nvPr/>
        </p:nvSpPr>
        <p:spPr>
          <a:xfrm>
            <a:off x="731520" y="3154680"/>
            <a:ext cx="2697480" cy="1097280"/>
          </a:xfrm>
          <a:prstGeom prst="rect">
            <a:avLst/>
          </a:prstGeom>
          <a:noFill/>
          <a:ln/>
        </p:spPr>
        <p:txBody>
          <a:bodyPr wrap="square" lIns="0" tIns="0" rIns="0" bIns="0" rtlCol="0" anchor="t"/>
          <a:lstStyle/>
          <a:p>
            <a:pPr indent="0" marL="0">
              <a:buNone/>
            </a:pPr>
            <a:r>
              <a:rPr lang="en-US" sz="1400" dirty="0">
                <a:solidFill>
                  <a:schemeClr val="bg1"/>
                </a:solidFill>
              </a:rPr>
              <a:t>of codes sent within 30 seconds is the objective, and an expired code is counted as a miss, never hidden</a:t>
            </a:r>
            <a:endParaRPr lang="en-US" sz="1400" dirty="0"/>
          </a:p>
        </p:txBody>
      </p:sp>
      <p:sp>
        <p:nvSpPr>
          <p:cNvPr id="8" name="A lane of their own circle"/>
          <p:cNvSpPr/>
          <p:nvPr/>
        </p:nvSpPr>
        <p:spPr>
          <a:xfrm>
            <a:off x="3931920" y="1261872"/>
            <a:ext cx="502920" cy="502920"/>
          </a:xfrm>
          <a:prstGeom prst="ellipse">
            <a:avLst/>
          </a:prstGeom>
          <a:solidFill>
            <a:schemeClr val="accent2"/>
          </a:solidFill>
          <a:ln w="12700">
            <a:solidFill>
              <a:schemeClr val="accent2"/>
            </a:solidFill>
            <a:prstDash val="solid"/>
          </a:ln>
        </p:spPr>
      </p:sp>
      <p:pic>
        <p:nvPicPr>
          <p:cNvPr id="9" name="A lane of their own icon" descr="A lane of their own">    </p:cNvPr>
          <p:cNvPicPr>
            <a:picLocks noChangeAspect="1"/>
          </p:cNvPicPr>
          <p:nvPr/>
        </p:nvPicPr>
        <p:blipFill>
          <a:blip r:embed="rId2"/>
          <a:stretch>
            <a:fillRect/>
          </a:stretch>
        </p:blipFill>
        <p:spPr>
          <a:xfrm>
            <a:off x="4057650" y="1387602"/>
            <a:ext cx="251460" cy="251460"/>
          </a:xfrm>
          <a:prstGeom prst="rect">
            <a:avLst/>
          </a:prstGeom>
        </p:spPr>
      </p:pic>
      <p:sp>
        <p:nvSpPr>
          <p:cNvPr id="10" name="Text 6"/>
          <p:cNvSpPr txBox="1"/>
          <p:nvPr/>
        </p:nvSpPr>
        <p:spPr>
          <a:xfrm>
            <a:off x="4572000" y="1188720"/>
            <a:ext cx="4114800" cy="310896"/>
          </a:xfrm>
          <a:prstGeom prst="rect">
            <a:avLst/>
          </a:prstGeom>
          <a:noFill/>
          <a:ln/>
        </p:spPr>
        <p:txBody>
          <a:bodyPr wrap="square" lIns="0" tIns="0" rIns="0" bIns="0" rtlCol="0" anchor="t"/>
          <a:lstStyle/>
          <a:p>
            <a:pPr indent="0" marL="0">
              <a:buNone/>
            </a:pPr>
            <a:r>
              <a:rPr lang="en-US" sz="1500" b="1" dirty="0">
                <a:solidFill>
                  <a:schemeClr val="tx1"/>
                </a:solidFill>
              </a:rPr>
              <a:t>A lane of their own</a:t>
            </a:r>
            <a:endParaRPr lang="en-US" sz="1500" dirty="0"/>
          </a:p>
        </p:txBody>
      </p:sp>
      <p:sp>
        <p:nvSpPr>
          <p:cNvPr id="11" name="Text 7"/>
          <p:cNvSpPr txBox="1"/>
          <p:nvPr/>
        </p:nvSpPr>
        <p:spPr>
          <a:xfrm>
            <a:off x="4572000" y="1517904"/>
            <a:ext cx="4114800" cy="411480"/>
          </a:xfrm>
          <a:prstGeom prst="rect">
            <a:avLst/>
          </a:prstGeom>
          <a:noFill/>
          <a:ln/>
        </p:spPr>
        <p:txBody>
          <a:bodyPr wrap="square" lIns="0" tIns="0" rIns="0" bIns="0" rtlCol="0" anchor="t"/>
          <a:lstStyle/>
          <a:p>
            <a:pPr indent="0" marL="0">
              <a:buNone/>
            </a:pPr>
            <a:r>
              <a:rPr lang="en-US" sz="1300" dirty="0">
                <a:solidFill>
                  <a:srgbClr val="3D4466"/>
                </a:solidFill>
              </a:rPr>
              <a:t>Separate topics and workers, so codes never queue behind bulk traffic</a:t>
            </a:r>
            <a:endParaRPr lang="en-US" sz="1300" dirty="0"/>
          </a:p>
        </p:txBody>
      </p:sp>
      <p:sp>
        <p:nvSpPr>
          <p:cNvPr id="12" name="Reserved capacity circle"/>
          <p:cNvSpPr/>
          <p:nvPr/>
        </p:nvSpPr>
        <p:spPr>
          <a:xfrm>
            <a:off x="3931920" y="2084832"/>
            <a:ext cx="502920" cy="502920"/>
          </a:xfrm>
          <a:prstGeom prst="ellipse">
            <a:avLst/>
          </a:prstGeom>
          <a:solidFill>
            <a:schemeClr val="accent3"/>
          </a:solidFill>
          <a:ln w="12700">
            <a:solidFill>
              <a:schemeClr val="accent3"/>
            </a:solidFill>
            <a:prstDash val="solid"/>
          </a:ln>
        </p:spPr>
      </p:sp>
      <p:pic>
        <p:nvPicPr>
          <p:cNvPr id="13" name="Reserved capacity icon" descr="Reserved capacity">    </p:cNvPr>
          <p:cNvPicPr>
            <a:picLocks noChangeAspect="1"/>
          </p:cNvPicPr>
          <p:nvPr/>
        </p:nvPicPr>
        <p:blipFill>
          <a:blip r:embed="rId3"/>
          <a:stretch>
            <a:fillRect/>
          </a:stretch>
        </p:blipFill>
        <p:spPr>
          <a:xfrm>
            <a:off x="4057650" y="2210562"/>
            <a:ext cx="251460" cy="251460"/>
          </a:xfrm>
          <a:prstGeom prst="rect">
            <a:avLst/>
          </a:prstGeom>
        </p:spPr>
      </p:pic>
      <p:sp>
        <p:nvSpPr>
          <p:cNvPr id="14" name="Text 9"/>
          <p:cNvSpPr txBox="1"/>
          <p:nvPr/>
        </p:nvSpPr>
        <p:spPr>
          <a:xfrm>
            <a:off x="4572000" y="2011680"/>
            <a:ext cx="4114800" cy="310896"/>
          </a:xfrm>
          <a:prstGeom prst="rect">
            <a:avLst/>
          </a:prstGeom>
          <a:noFill/>
          <a:ln/>
        </p:spPr>
        <p:txBody>
          <a:bodyPr wrap="square" lIns="0" tIns="0" rIns="0" bIns="0" rtlCol="0" anchor="t"/>
          <a:lstStyle/>
          <a:p>
            <a:pPr indent="0" marL="0">
              <a:buNone/>
            </a:pPr>
            <a:r>
              <a:rPr lang="en-US" sz="1500" b="1" dirty="0">
                <a:solidFill>
                  <a:schemeClr val="tx1"/>
                </a:solidFill>
              </a:rPr>
              <a:t>Reserved capacity</a:t>
            </a:r>
            <a:endParaRPr lang="en-US" sz="1500" dirty="0"/>
          </a:p>
        </p:txBody>
      </p:sp>
      <p:sp>
        <p:nvSpPr>
          <p:cNvPr id="15" name="Text 10"/>
          <p:cNvSpPr txBox="1"/>
          <p:nvPr/>
        </p:nvSpPr>
        <p:spPr>
          <a:xfrm>
            <a:off x="4572000" y="2340864"/>
            <a:ext cx="4114800" cy="411480"/>
          </a:xfrm>
          <a:prstGeom prst="rect">
            <a:avLst/>
          </a:prstGeom>
          <a:noFill/>
          <a:ln/>
        </p:spPr>
        <p:txBody>
          <a:bodyPr wrap="square" lIns="0" tIns="0" rIns="0" bIns="0" rtlCol="0" anchor="t"/>
          <a:lstStyle/>
          <a:p>
            <a:pPr indent="0" marL="0">
              <a:buNone/>
            </a:pPr>
            <a:r>
              <a:rPr lang="en-US" sz="1300" dirty="0">
                <a:solidFill>
                  <a:srgbClr val="3D4466"/>
                </a:solidFill>
              </a:rPr>
              <a:t>20 % of every rate-limit bucket is kept free for codes</a:t>
            </a:r>
            <a:endParaRPr lang="en-US" sz="1300" dirty="0"/>
          </a:p>
        </p:txBody>
      </p:sp>
      <p:sp>
        <p:nvSpPr>
          <p:cNvPr id="16" name="Never late circle"/>
          <p:cNvSpPr/>
          <p:nvPr/>
        </p:nvSpPr>
        <p:spPr>
          <a:xfrm>
            <a:off x="3931920" y="2907792"/>
            <a:ext cx="502920" cy="502920"/>
          </a:xfrm>
          <a:prstGeom prst="ellipse">
            <a:avLst/>
          </a:prstGeom>
          <a:solidFill>
            <a:schemeClr val="accent6"/>
          </a:solidFill>
          <a:ln w="12700">
            <a:solidFill>
              <a:schemeClr val="accent6"/>
            </a:solidFill>
            <a:prstDash val="solid"/>
          </a:ln>
        </p:spPr>
      </p:sp>
      <p:pic>
        <p:nvPicPr>
          <p:cNvPr id="17" name="Never late icon" descr="Never late">    </p:cNvPr>
          <p:cNvPicPr>
            <a:picLocks noChangeAspect="1"/>
          </p:cNvPicPr>
          <p:nvPr/>
        </p:nvPicPr>
        <p:blipFill>
          <a:blip r:embed="rId4"/>
          <a:stretch>
            <a:fillRect/>
          </a:stretch>
        </p:blipFill>
        <p:spPr>
          <a:xfrm>
            <a:off x="4057650" y="3033522"/>
            <a:ext cx="251460" cy="251460"/>
          </a:xfrm>
          <a:prstGeom prst="rect">
            <a:avLst/>
          </a:prstGeom>
        </p:spPr>
      </p:pic>
      <p:sp>
        <p:nvSpPr>
          <p:cNvPr id="18" name="Text 12"/>
          <p:cNvSpPr txBox="1"/>
          <p:nvPr/>
        </p:nvSpPr>
        <p:spPr>
          <a:xfrm>
            <a:off x="4572000" y="2834640"/>
            <a:ext cx="4114800" cy="310896"/>
          </a:xfrm>
          <a:prstGeom prst="rect">
            <a:avLst/>
          </a:prstGeom>
          <a:noFill/>
          <a:ln/>
        </p:spPr>
        <p:txBody>
          <a:bodyPr wrap="square" lIns="0" tIns="0" rIns="0" bIns="0" rtlCol="0" anchor="t"/>
          <a:lstStyle/>
          <a:p>
            <a:pPr indent="0" marL="0">
              <a:buNone/>
            </a:pPr>
            <a:r>
              <a:rPr lang="en-US" sz="1500" b="1" dirty="0">
                <a:solidFill>
                  <a:schemeClr val="tx1"/>
                </a:solidFill>
              </a:rPr>
              <a:t>Never late</a:t>
            </a:r>
            <a:endParaRPr lang="en-US" sz="1500" dirty="0"/>
          </a:p>
        </p:txBody>
      </p:sp>
      <p:sp>
        <p:nvSpPr>
          <p:cNvPr id="19" name="Text 13"/>
          <p:cNvSpPr txBox="1"/>
          <p:nvPr/>
        </p:nvSpPr>
        <p:spPr>
          <a:xfrm>
            <a:off x="4572000" y="3163824"/>
            <a:ext cx="4114800" cy="411480"/>
          </a:xfrm>
          <a:prstGeom prst="rect">
            <a:avLst/>
          </a:prstGeom>
          <a:noFill/>
          <a:ln/>
        </p:spPr>
        <p:txBody>
          <a:bodyPr wrap="square" lIns="0" tIns="0" rIns="0" bIns="0" rtlCol="0" anchor="t"/>
          <a:lstStyle/>
          <a:p>
            <a:pPr indent="0" marL="0">
              <a:buNone/>
            </a:pPr>
            <a:r>
              <a:rPr lang="en-US" sz="1300" dirty="0">
                <a:solidFill>
                  <a:srgbClr val="3D4466"/>
                </a:solidFill>
              </a:rPr>
              <a:t>Each code expires after 1 to 15 minutes and is dropped, not sent late</a:t>
            </a:r>
            <a:endParaRPr lang="en-US" sz="1300" dirty="0"/>
          </a:p>
        </p:txBody>
      </p:sp>
      <p:sp>
        <p:nvSpPr>
          <p:cNvPr id="20" name="Priced your way circle"/>
          <p:cNvSpPr/>
          <p:nvPr/>
        </p:nvSpPr>
        <p:spPr>
          <a:xfrm>
            <a:off x="3931920" y="3730752"/>
            <a:ext cx="502920" cy="502920"/>
          </a:xfrm>
          <a:prstGeom prst="ellipse">
            <a:avLst/>
          </a:prstGeom>
          <a:solidFill>
            <a:schemeClr val="accent1"/>
          </a:solidFill>
          <a:ln w="12700">
            <a:solidFill>
              <a:schemeClr val="accent1"/>
            </a:solidFill>
            <a:prstDash val="solid"/>
          </a:ln>
        </p:spPr>
      </p:sp>
      <p:pic>
        <p:nvPicPr>
          <p:cNvPr id="21" name="Priced your way icon" descr="Priced your way">    </p:cNvPr>
          <p:cNvPicPr>
            <a:picLocks noChangeAspect="1"/>
          </p:cNvPicPr>
          <p:nvPr/>
        </p:nvPicPr>
        <p:blipFill>
          <a:blip r:embed="rId5"/>
          <a:stretch>
            <a:fillRect/>
          </a:stretch>
        </p:blipFill>
        <p:spPr>
          <a:xfrm>
            <a:off x="4057650" y="3856482"/>
            <a:ext cx="251460" cy="251460"/>
          </a:xfrm>
          <a:prstGeom prst="rect">
            <a:avLst/>
          </a:prstGeom>
        </p:spPr>
      </p:pic>
      <p:sp>
        <p:nvSpPr>
          <p:cNvPr id="22" name="Text 15"/>
          <p:cNvSpPr txBox="1"/>
          <p:nvPr/>
        </p:nvSpPr>
        <p:spPr>
          <a:xfrm>
            <a:off x="4572000" y="3657600"/>
            <a:ext cx="4114800" cy="310896"/>
          </a:xfrm>
          <a:prstGeom prst="rect">
            <a:avLst/>
          </a:prstGeom>
          <a:noFill/>
          <a:ln/>
        </p:spPr>
        <p:txBody>
          <a:bodyPr wrap="square" lIns="0" tIns="0" rIns="0" bIns="0" rtlCol="0" anchor="t"/>
          <a:lstStyle/>
          <a:p>
            <a:pPr indent="0" marL="0">
              <a:buNone/>
            </a:pPr>
            <a:r>
              <a:rPr lang="en-US" sz="1500" b="1" dirty="0">
                <a:solidFill>
                  <a:schemeClr val="tx1"/>
                </a:solidFill>
              </a:rPr>
              <a:t>Priced your way</a:t>
            </a:r>
            <a:endParaRPr lang="en-US" sz="1500" dirty="0"/>
          </a:p>
        </p:txBody>
      </p:sp>
      <p:sp>
        <p:nvSpPr>
          <p:cNvPr id="23" name="Text 16"/>
          <p:cNvSpPr txBox="1"/>
          <p:nvPr/>
        </p:nvSpPr>
        <p:spPr>
          <a:xfrm>
            <a:off x="4572000" y="3986784"/>
            <a:ext cx="4114800" cy="411480"/>
          </a:xfrm>
          <a:prstGeom prst="rect">
            <a:avLst/>
          </a:prstGeom>
          <a:noFill/>
          <a:ln/>
        </p:spPr>
        <p:txBody>
          <a:bodyPr wrap="square" lIns="0" tIns="0" rIns="0" bIns="0" rtlCol="0" anchor="t"/>
          <a:lstStyle/>
          <a:p>
            <a:pPr indent="0" marL="0">
              <a:buNone/>
            </a:pPr>
            <a:r>
              <a:rPr lang="en-US" sz="1300" dirty="0">
                <a:solidFill>
                  <a:srgbClr val="3D4466"/>
                </a:solidFill>
              </a:rPr>
              <a:t>Each tenant can pay its own price per code and channel</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B739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640080"/>
          </a:xfrm>
          <a:prstGeom prst="rect">
            <a:avLst/>
          </a:prstGeom>
          <a:noFill/>
          <a:ln/>
        </p:spPr>
        <p:txBody>
          <a:bodyPr wrap="square" lIns="0" tIns="0" rIns="0" bIns="0" rtlCol="0" anchor="ctr"/>
          <a:lstStyle/>
          <a:p>
            <a:pPr indent="0" marL="0">
              <a:buNone/>
            </a:pPr>
            <a:r>
              <a:rPr lang="en-US" sz="3200" b="1" dirty="0">
                <a:solidFill>
                  <a:schemeClr val="tx1"/>
                </a:solidFill>
              </a:rPr>
              <a:t>Run it as a business</a:t>
            </a:r>
            <a:endParaRPr lang="en-US" sz="3200" dirty="0"/>
          </a:p>
        </p:txBody>
      </p:sp>
      <p:sp>
        <p:nvSpPr>
          <p:cNvPr id="3" name="Prepaid column"/>
          <p:cNvSpPr/>
          <p:nvPr/>
        </p:nvSpPr>
        <p:spPr>
          <a:xfrm>
            <a:off x="457200" y="1188720"/>
            <a:ext cx="2743200" cy="3246120"/>
          </a:xfrm>
          <a:prstGeom prst="roundRect">
            <a:avLst>
              <a:gd name="adj" fmla="val 4000"/>
            </a:avLst>
          </a:prstGeom>
          <a:solidFill>
            <a:schemeClr val="bg2"/>
          </a:solidFill>
          <a:ln w="12700">
            <a:solidFill>
              <a:schemeClr val="bg2"/>
            </a:solidFill>
            <a:prstDash val="solid"/>
          </a:ln>
          <a:effectLst>
            <a:outerShdw sx="100000" sy="100000" kx="0" ky="0" algn="bl" rotWithShape="0" blurRad="76200" dist="25400" dir="5400000">
              <a:srgbClr val="161A36">
                <a:alpha val="10000"/>
              </a:srgbClr>
            </a:outerShdw>
          </a:effectLst>
        </p:spPr>
      </p:sp>
      <p:sp>
        <p:nvSpPr>
          <p:cNvPr id="4" name="Prepaid circle"/>
          <p:cNvSpPr/>
          <p:nvPr/>
        </p:nvSpPr>
        <p:spPr>
          <a:xfrm>
            <a:off x="685800" y="1371600"/>
            <a:ext cx="594360" cy="594360"/>
          </a:xfrm>
          <a:prstGeom prst="ellipse">
            <a:avLst/>
          </a:prstGeom>
          <a:solidFill>
            <a:schemeClr val="accent1"/>
          </a:solidFill>
          <a:ln w="12700">
            <a:solidFill>
              <a:schemeClr val="accent1"/>
            </a:solidFill>
            <a:prstDash val="solid"/>
          </a:ln>
        </p:spPr>
      </p:sp>
      <p:pic>
        <p:nvPicPr>
          <p:cNvPr id="5" name="Prepaid icon" descr="Prepaid">    </p:cNvPr>
          <p:cNvPicPr>
            <a:picLocks noChangeAspect="1"/>
          </p:cNvPicPr>
          <p:nvPr/>
        </p:nvPicPr>
        <p:blipFill>
          <a:blip r:embed="rId1"/>
          <a:stretch>
            <a:fillRect/>
          </a:stretch>
        </p:blipFill>
        <p:spPr>
          <a:xfrm>
            <a:off x="834390" y="1520190"/>
            <a:ext cx="297180" cy="297180"/>
          </a:xfrm>
          <a:prstGeom prst="rect">
            <a:avLst/>
          </a:prstGeom>
        </p:spPr>
      </p:pic>
      <p:sp>
        <p:nvSpPr>
          <p:cNvPr id="6" name="Text 3"/>
          <p:cNvSpPr txBox="1"/>
          <p:nvPr/>
        </p:nvSpPr>
        <p:spPr>
          <a:xfrm>
            <a:off x="1417320" y="1481328"/>
            <a:ext cx="1645920" cy="384048"/>
          </a:xfrm>
          <a:prstGeom prst="rect">
            <a:avLst/>
          </a:prstGeom>
          <a:noFill/>
          <a:ln/>
        </p:spPr>
        <p:txBody>
          <a:bodyPr wrap="square" lIns="0" tIns="0" rIns="0" bIns="0" rtlCol="0" anchor="t"/>
          <a:lstStyle/>
          <a:p>
            <a:pPr indent="0" marL="0">
              <a:buNone/>
            </a:pPr>
            <a:r>
              <a:rPr lang="en-US" sz="2000" b="1" dirty="0">
                <a:solidFill>
                  <a:schemeClr val="tx1"/>
                </a:solidFill>
              </a:rPr>
              <a:t>Prepaid</a:t>
            </a:r>
            <a:endParaRPr lang="en-US" sz="2000" dirty="0"/>
          </a:p>
        </p:txBody>
      </p:sp>
      <p:sp>
        <p:nvSpPr>
          <p:cNvPr id="7" name="Text 4"/>
          <p:cNvSpPr txBox="1"/>
          <p:nvPr/>
        </p:nvSpPr>
        <p:spPr>
          <a:xfrm>
            <a:off x="685800" y="2148840"/>
            <a:ext cx="2331720" cy="210312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3D4466"/>
                </a:solidFill>
              </a:rPr>
              <a:t>Credit reserved at accept, settled after delivery</a:t>
            </a:r>
            <a:endParaRPr lang="en-US" sz="1400" dirty="0"/>
          </a:p>
          <a:p>
            <a:pPr marL="342900" indent="-342900">
              <a:spcAft>
                <a:spcPts val="800"/>
              </a:spcAft>
              <a:buSzPct val="100000"/>
              <a:buChar char="•"/>
            </a:pPr>
            <a:r>
              <a:rPr lang="en-US" sz="1400" dirty="0">
                <a:solidFill>
                  <a:srgbClr val="3D4466"/>
                </a:solidFill>
              </a:rPr>
              <a:t>Unsent messages refunded automatically</a:t>
            </a:r>
            <a:endParaRPr lang="en-US" sz="1400" dirty="0"/>
          </a:p>
          <a:p>
            <a:pPr marL="342900" indent="-342900">
              <a:spcAft>
                <a:spcPts val="800"/>
              </a:spcAft>
              <a:buSzPct val="100000"/>
              <a:buChar char="•"/>
            </a:pPr>
            <a:r>
              <a:rPr lang="en-US" sz="1400" dirty="0">
                <a:solidFill>
                  <a:srgbClr val="3D4466"/>
                </a:solidFill>
              </a:rPr>
              <a:t>A full ledger of every movement</a:t>
            </a:r>
            <a:endParaRPr lang="en-US" sz="1400" dirty="0"/>
          </a:p>
        </p:txBody>
      </p:sp>
      <p:sp>
        <p:nvSpPr>
          <p:cNvPr id="8" name="Postpaid column"/>
          <p:cNvSpPr/>
          <p:nvPr/>
        </p:nvSpPr>
        <p:spPr>
          <a:xfrm>
            <a:off x="3383280" y="1188720"/>
            <a:ext cx="2743200" cy="3246120"/>
          </a:xfrm>
          <a:prstGeom prst="roundRect">
            <a:avLst>
              <a:gd name="adj" fmla="val 4000"/>
            </a:avLst>
          </a:prstGeom>
          <a:solidFill>
            <a:schemeClr val="bg2"/>
          </a:solidFill>
          <a:ln w="12700">
            <a:solidFill>
              <a:schemeClr val="bg2"/>
            </a:solidFill>
            <a:prstDash val="solid"/>
          </a:ln>
          <a:effectLst>
            <a:outerShdw sx="100000" sy="100000" kx="0" ky="0" algn="bl" rotWithShape="0" blurRad="76200" dist="25400" dir="5400000">
              <a:srgbClr val="161A36">
                <a:alpha val="10000"/>
              </a:srgbClr>
            </a:outerShdw>
          </a:effectLst>
        </p:spPr>
      </p:sp>
      <p:sp>
        <p:nvSpPr>
          <p:cNvPr id="9" name="Postpaid circle"/>
          <p:cNvSpPr/>
          <p:nvPr/>
        </p:nvSpPr>
        <p:spPr>
          <a:xfrm>
            <a:off x="3611880" y="1371600"/>
            <a:ext cx="594360" cy="594360"/>
          </a:xfrm>
          <a:prstGeom prst="ellipse">
            <a:avLst/>
          </a:prstGeom>
          <a:solidFill>
            <a:schemeClr val="accent3"/>
          </a:solidFill>
          <a:ln w="12700">
            <a:solidFill>
              <a:schemeClr val="accent3"/>
            </a:solidFill>
            <a:prstDash val="solid"/>
          </a:ln>
        </p:spPr>
      </p:sp>
      <p:pic>
        <p:nvPicPr>
          <p:cNvPr id="10" name="Postpaid icon" descr="Postpaid">    </p:cNvPr>
          <p:cNvPicPr>
            <a:picLocks noChangeAspect="1"/>
          </p:cNvPicPr>
          <p:nvPr/>
        </p:nvPicPr>
        <p:blipFill>
          <a:blip r:embed="rId2"/>
          <a:stretch>
            <a:fillRect/>
          </a:stretch>
        </p:blipFill>
        <p:spPr>
          <a:xfrm>
            <a:off x="3760470" y="1520190"/>
            <a:ext cx="297180" cy="297180"/>
          </a:xfrm>
          <a:prstGeom prst="rect">
            <a:avLst/>
          </a:prstGeom>
        </p:spPr>
      </p:pic>
      <p:sp>
        <p:nvSpPr>
          <p:cNvPr id="11" name="Text 7"/>
          <p:cNvSpPr txBox="1"/>
          <p:nvPr/>
        </p:nvSpPr>
        <p:spPr>
          <a:xfrm>
            <a:off x="4343400" y="1481328"/>
            <a:ext cx="1645920" cy="384048"/>
          </a:xfrm>
          <a:prstGeom prst="rect">
            <a:avLst/>
          </a:prstGeom>
          <a:noFill/>
          <a:ln/>
        </p:spPr>
        <p:txBody>
          <a:bodyPr wrap="square" lIns="0" tIns="0" rIns="0" bIns="0" rtlCol="0" anchor="t"/>
          <a:lstStyle/>
          <a:p>
            <a:pPr indent="0" marL="0">
              <a:buNone/>
            </a:pPr>
            <a:r>
              <a:rPr lang="en-US" sz="2000" b="1" dirty="0">
                <a:solidFill>
                  <a:schemeClr val="tx1"/>
                </a:solidFill>
              </a:rPr>
              <a:t>Postpaid</a:t>
            </a:r>
            <a:endParaRPr lang="en-US" sz="2000" dirty="0"/>
          </a:p>
        </p:txBody>
      </p:sp>
      <p:sp>
        <p:nvSpPr>
          <p:cNvPr id="12" name="Text 8"/>
          <p:cNvSpPr txBox="1"/>
          <p:nvPr/>
        </p:nvSpPr>
        <p:spPr>
          <a:xfrm>
            <a:off x="3611880" y="2148840"/>
            <a:ext cx="2331720" cy="210312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3D4466"/>
                </a:solidFill>
              </a:rPr>
              <a:t>Monthly invoices from what was actually sent</a:t>
            </a:r>
            <a:endParaRPr lang="en-US" sz="1400" dirty="0"/>
          </a:p>
          <a:p>
            <a:pPr marL="342900" indent="-342900">
              <a:spcAft>
                <a:spcPts val="800"/>
              </a:spcAft>
              <a:buSzPct val="100000"/>
              <a:buChar char="•"/>
            </a:pPr>
            <a:r>
              <a:rPr lang="en-US" sz="1400" dirty="0">
                <a:solidFill>
                  <a:srgbClr val="3D4466"/>
                </a:solidFill>
              </a:rPr>
              <a:t>Free allowances, platform fee and tax</a:t>
            </a:r>
            <a:endParaRPr lang="en-US" sz="1400" dirty="0"/>
          </a:p>
          <a:p>
            <a:pPr marL="342900" indent="-342900">
              <a:spcAft>
                <a:spcPts val="800"/>
              </a:spcAft>
              <a:buSzPct val="100000"/>
              <a:buChar char="•"/>
            </a:pPr>
            <a:r>
              <a:rPr lang="en-US" sz="1400" dirty="0">
                <a:solidFill>
                  <a:srgbClr val="3D4466"/>
                </a:solidFill>
              </a:rPr>
              <a:t>Soft monthly spend caps</a:t>
            </a:r>
            <a:endParaRPr lang="en-US" sz="1400" dirty="0"/>
          </a:p>
        </p:txBody>
      </p:sp>
      <p:sp>
        <p:nvSpPr>
          <p:cNvPr id="13" name="Plans card"/>
          <p:cNvSpPr/>
          <p:nvPr/>
        </p:nvSpPr>
        <p:spPr>
          <a:xfrm>
            <a:off x="6355080" y="1188720"/>
            <a:ext cx="2331720" cy="3246120"/>
          </a:xfrm>
          <a:prstGeom prst="roundRect">
            <a:avLst>
              <a:gd name="adj" fmla="val 4706"/>
            </a:avLst>
          </a:prstGeom>
          <a:solidFill>
            <a:schemeClr val="tx1"/>
          </a:solidFill>
          <a:ln w="12700">
            <a:solidFill>
              <a:schemeClr val="tx1"/>
            </a:solidFill>
            <a:prstDash val="solid"/>
          </a:ln>
          <a:effectLst>
            <a:outerShdw sx="100000" sy="100000" kx="0" ky="0" algn="bl" rotWithShape="0" blurRad="76200" dist="25400" dir="5400000">
              <a:srgbClr val="161A36">
                <a:alpha val="10000"/>
              </a:srgbClr>
            </a:outerShdw>
          </a:effectLst>
        </p:spPr>
      </p:sp>
      <p:sp>
        <p:nvSpPr>
          <p:cNvPr id="14" name="Text 10"/>
          <p:cNvSpPr txBox="1"/>
          <p:nvPr/>
        </p:nvSpPr>
        <p:spPr>
          <a:xfrm>
            <a:off x="6537960" y="1371600"/>
            <a:ext cx="2011680" cy="640080"/>
          </a:xfrm>
          <a:prstGeom prst="rect">
            <a:avLst/>
          </a:prstGeom>
          <a:noFill/>
          <a:ln/>
        </p:spPr>
        <p:txBody>
          <a:bodyPr wrap="square" lIns="0" tIns="0" rIns="0" bIns="0" rtlCol="0" anchor="t"/>
          <a:lstStyle/>
          <a:p>
            <a:pPr indent="0" marL="0">
              <a:buNone/>
            </a:pPr>
            <a:r>
              <a:rPr lang="en-US" sz="1700" b="1" dirty="0">
                <a:solidFill>
                  <a:schemeClr val="bg1"/>
                </a:solidFill>
              </a:rPr>
              <a:t>Plans for every tenant</a:t>
            </a:r>
            <a:endParaRPr lang="en-US" sz="1700" dirty="0"/>
          </a:p>
        </p:txBody>
      </p:sp>
      <p:sp>
        <p:nvSpPr>
          <p:cNvPr id="15" name="Text 11"/>
          <p:cNvSpPr txBox="1"/>
          <p:nvPr/>
        </p:nvSpPr>
        <p:spPr>
          <a:xfrm>
            <a:off x="6537960" y="2103120"/>
            <a:ext cx="2011680" cy="210312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CADCF5"/>
                </a:solidFill>
              </a:rPr>
              <a:t>Price per channel</a:t>
            </a:r>
            <a:endParaRPr lang="en-US" sz="1400" dirty="0"/>
          </a:p>
          <a:p>
            <a:pPr marL="342900" indent="-342900">
              <a:spcAft>
                <a:spcPts val="800"/>
              </a:spcAft>
              <a:buSzPct val="100000"/>
              <a:buChar char="•"/>
            </a:pPr>
            <a:r>
              <a:rPr lang="en-US" sz="1400" dirty="0">
                <a:solidFill>
                  <a:srgbClr val="CADCF5"/>
                </a:solidFill>
              </a:rPr>
              <a:t>Monthly free allowance</a:t>
            </a:r>
            <a:endParaRPr lang="en-US" sz="1400" dirty="0"/>
          </a:p>
          <a:p>
            <a:pPr marL="342900" indent="-342900">
              <a:spcAft>
                <a:spcPts val="800"/>
              </a:spcAft>
              <a:buSzPct val="100000"/>
              <a:buChar char="•"/>
            </a:pPr>
            <a:r>
              <a:rPr lang="en-US" sz="1400" dirty="0">
                <a:solidFill>
                  <a:srgbClr val="CADCF5"/>
                </a:solidFill>
              </a:rPr>
              <a:t>Per-tenant OTP prices</a:t>
            </a:r>
            <a:endParaRPr lang="en-US" sz="1400" dirty="0"/>
          </a:p>
          <a:p>
            <a:pPr marL="342900" indent="-342900">
              <a:spcAft>
                <a:spcPts val="800"/>
              </a:spcAft>
              <a:buSzPct val="100000"/>
              <a:buChar char="•"/>
            </a:pPr>
            <a:r>
              <a:rPr lang="en-US" sz="1400" dirty="0">
                <a:solidFill>
                  <a:srgbClr val="CADCF5"/>
                </a:solidFill>
              </a:rPr>
              <a:t>Invoices as CSV or PDF</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B739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640080"/>
          </a:xfrm>
          <a:prstGeom prst="rect">
            <a:avLst/>
          </a:prstGeom>
          <a:noFill/>
          <a:ln/>
        </p:spPr>
        <p:txBody>
          <a:bodyPr wrap="square" lIns="0" tIns="0" rIns="0" bIns="0" rtlCol="0" anchor="ctr"/>
          <a:lstStyle/>
          <a:p>
            <a:pPr indent="0" marL="0">
              <a:buNone/>
            </a:pPr>
            <a:r>
              <a:rPr lang="en-US" sz="3200" b="1" dirty="0">
                <a:solidFill>
                  <a:schemeClr val="tx1"/>
                </a:solidFill>
              </a:rPr>
              <a:t>Privacy and compliance by design</a:t>
            </a:r>
            <a:endParaRPr lang="en-US" sz="3200" dirty="0"/>
          </a:p>
        </p:txBody>
      </p:sp>
      <p:sp>
        <p:nvSpPr>
          <p:cNvPr id="3" name="Retention and erasure circle"/>
          <p:cNvSpPr/>
          <p:nvPr/>
        </p:nvSpPr>
        <p:spPr>
          <a:xfrm>
            <a:off x="457200" y="1280160"/>
            <a:ext cx="640080" cy="640080"/>
          </a:xfrm>
          <a:prstGeom prst="ellipse">
            <a:avLst/>
          </a:prstGeom>
          <a:solidFill>
            <a:schemeClr val="accent1"/>
          </a:solidFill>
          <a:ln w="12700">
            <a:solidFill>
              <a:schemeClr val="accent1"/>
            </a:solidFill>
            <a:prstDash val="solid"/>
          </a:ln>
        </p:spPr>
      </p:sp>
      <p:pic>
        <p:nvPicPr>
          <p:cNvPr id="4" name="Retention and erasure icon" descr="Retention and erasure">    </p:cNvPr>
          <p:cNvPicPr>
            <a:picLocks noChangeAspect="1"/>
          </p:cNvPicPr>
          <p:nvPr/>
        </p:nvPicPr>
        <p:blipFill>
          <a:blip r:embed="rId1"/>
          <a:stretch>
            <a:fillRect/>
          </a:stretch>
        </p:blipFill>
        <p:spPr>
          <a:xfrm>
            <a:off x="617220" y="1440180"/>
            <a:ext cx="320040" cy="320040"/>
          </a:xfrm>
          <a:prstGeom prst="rect">
            <a:avLst/>
          </a:prstGeom>
        </p:spPr>
      </p:pic>
      <p:sp>
        <p:nvSpPr>
          <p:cNvPr id="5" name="Text 2"/>
          <p:cNvSpPr txBox="1"/>
          <p:nvPr/>
        </p:nvSpPr>
        <p:spPr>
          <a:xfrm>
            <a:off x="1280160" y="1234440"/>
            <a:ext cx="3200400" cy="365760"/>
          </a:xfrm>
          <a:prstGeom prst="rect">
            <a:avLst/>
          </a:prstGeom>
          <a:noFill/>
          <a:ln/>
        </p:spPr>
        <p:txBody>
          <a:bodyPr wrap="square" lIns="0" tIns="0" rIns="0" bIns="0" rtlCol="0" anchor="t"/>
          <a:lstStyle/>
          <a:p>
            <a:pPr indent="0" marL="0">
              <a:buNone/>
            </a:pPr>
            <a:r>
              <a:rPr lang="en-US" sz="1700" b="1" dirty="0">
                <a:solidFill>
                  <a:schemeClr val="tx1"/>
                </a:solidFill>
              </a:rPr>
              <a:t>Retention and erasure</a:t>
            </a:r>
            <a:endParaRPr lang="en-US" sz="1700" dirty="0"/>
          </a:p>
        </p:txBody>
      </p:sp>
      <p:sp>
        <p:nvSpPr>
          <p:cNvPr id="6" name="Text 3"/>
          <p:cNvSpPr txBox="1"/>
          <p:nvPr/>
        </p:nvSpPr>
        <p:spPr>
          <a:xfrm>
            <a:off x="1280160" y="1627632"/>
            <a:ext cx="3200400" cy="1005840"/>
          </a:xfrm>
          <a:prstGeom prst="rect">
            <a:avLst/>
          </a:prstGeom>
          <a:noFill/>
          <a:ln/>
        </p:spPr>
        <p:txBody>
          <a:bodyPr wrap="square" lIns="0" tIns="0" rIns="0" bIns="0" rtlCol="0" anchor="t"/>
          <a:lstStyle/>
          <a:p>
            <a:pPr indent="0" marL="0">
              <a:buNone/>
            </a:pPr>
            <a:r>
              <a:rPr lang="en-US" sz="1400" dirty="0">
                <a:solidFill>
                  <a:srgbClr val="3D4466"/>
                </a:solidFill>
              </a:rPr>
              <a:t>Recipient data erased after 90 days, records after 400, or on request; both configurable</a:t>
            </a:r>
            <a:endParaRPr lang="en-US" sz="1400" dirty="0"/>
          </a:p>
        </p:txBody>
      </p:sp>
      <p:sp>
        <p:nvSpPr>
          <p:cNvPr id="7" name="Encrypted personal data circle"/>
          <p:cNvSpPr/>
          <p:nvPr/>
        </p:nvSpPr>
        <p:spPr>
          <a:xfrm>
            <a:off x="4663440" y="1280160"/>
            <a:ext cx="640080" cy="640080"/>
          </a:xfrm>
          <a:prstGeom prst="ellipse">
            <a:avLst/>
          </a:prstGeom>
          <a:solidFill>
            <a:schemeClr val="accent3"/>
          </a:solidFill>
          <a:ln w="12700">
            <a:solidFill>
              <a:schemeClr val="accent3"/>
            </a:solidFill>
            <a:prstDash val="solid"/>
          </a:ln>
        </p:spPr>
      </p:sp>
      <p:pic>
        <p:nvPicPr>
          <p:cNvPr id="8" name="Encrypted personal data icon" descr="Encrypted personal data">    </p:cNvPr>
          <p:cNvPicPr>
            <a:picLocks noChangeAspect="1"/>
          </p:cNvPicPr>
          <p:nvPr/>
        </p:nvPicPr>
        <p:blipFill>
          <a:blip r:embed="rId2"/>
          <a:stretch>
            <a:fillRect/>
          </a:stretch>
        </p:blipFill>
        <p:spPr>
          <a:xfrm>
            <a:off x="4823460" y="1440180"/>
            <a:ext cx="320040" cy="320040"/>
          </a:xfrm>
          <a:prstGeom prst="rect">
            <a:avLst/>
          </a:prstGeom>
        </p:spPr>
      </p:pic>
      <p:sp>
        <p:nvSpPr>
          <p:cNvPr id="9" name="Text 5"/>
          <p:cNvSpPr txBox="1"/>
          <p:nvPr/>
        </p:nvSpPr>
        <p:spPr>
          <a:xfrm>
            <a:off x="5486400" y="1234440"/>
            <a:ext cx="3200400" cy="365760"/>
          </a:xfrm>
          <a:prstGeom prst="rect">
            <a:avLst/>
          </a:prstGeom>
          <a:noFill/>
          <a:ln/>
        </p:spPr>
        <p:txBody>
          <a:bodyPr wrap="square" lIns="0" tIns="0" rIns="0" bIns="0" rtlCol="0" anchor="t"/>
          <a:lstStyle/>
          <a:p>
            <a:pPr indent="0" marL="0">
              <a:buNone/>
            </a:pPr>
            <a:r>
              <a:rPr lang="en-US" sz="1700" b="1" dirty="0">
                <a:solidFill>
                  <a:schemeClr val="tx1"/>
                </a:solidFill>
              </a:rPr>
              <a:t>Encrypted personal data</a:t>
            </a:r>
            <a:endParaRPr lang="en-US" sz="1700" dirty="0"/>
          </a:p>
        </p:txBody>
      </p:sp>
      <p:sp>
        <p:nvSpPr>
          <p:cNvPr id="10" name="Text 6"/>
          <p:cNvSpPr txBox="1"/>
          <p:nvPr/>
        </p:nvSpPr>
        <p:spPr>
          <a:xfrm>
            <a:off x="5486400" y="1627632"/>
            <a:ext cx="3200400" cy="1005840"/>
          </a:xfrm>
          <a:prstGeom prst="rect">
            <a:avLst/>
          </a:prstGeom>
          <a:noFill/>
          <a:ln/>
        </p:spPr>
        <p:txBody>
          <a:bodyPr wrap="square" lIns="0" tIns="0" rIns="0" bIns="0" rtlCol="0" anchor="t"/>
          <a:lstStyle/>
          <a:p>
            <a:pPr indent="0" marL="0">
              <a:buNone/>
            </a:pPr>
            <a:r>
              <a:rPr lang="en-US" sz="1400" dirty="0">
                <a:solidFill>
                  <a:srgbClr val="3D4466"/>
                </a:solidFill>
              </a:rPr>
              <a:t>Template values encrypted at rest with AES-GCM, TLS in transit</a:t>
            </a:r>
            <a:endParaRPr lang="en-US" sz="1400" dirty="0"/>
          </a:p>
        </p:txBody>
      </p:sp>
      <p:sp>
        <p:nvSpPr>
          <p:cNvPr id="11" name="Recipient activity report circle"/>
          <p:cNvSpPr/>
          <p:nvPr/>
        </p:nvSpPr>
        <p:spPr>
          <a:xfrm>
            <a:off x="457200" y="2926080"/>
            <a:ext cx="640080" cy="640080"/>
          </a:xfrm>
          <a:prstGeom prst="ellipse">
            <a:avLst/>
          </a:prstGeom>
          <a:solidFill>
            <a:schemeClr val="accent2"/>
          </a:solidFill>
          <a:ln w="12700">
            <a:solidFill>
              <a:schemeClr val="accent2"/>
            </a:solidFill>
            <a:prstDash val="solid"/>
          </a:ln>
        </p:spPr>
      </p:sp>
      <p:pic>
        <p:nvPicPr>
          <p:cNvPr id="12" name="Recipient activity report icon" descr="Recipient activity report">    </p:cNvPr>
          <p:cNvPicPr>
            <a:picLocks noChangeAspect="1"/>
          </p:cNvPicPr>
          <p:nvPr/>
        </p:nvPicPr>
        <p:blipFill>
          <a:blip r:embed="rId3"/>
          <a:stretch>
            <a:fillRect/>
          </a:stretch>
        </p:blipFill>
        <p:spPr>
          <a:xfrm>
            <a:off x="617220" y="3086100"/>
            <a:ext cx="320040" cy="320040"/>
          </a:xfrm>
          <a:prstGeom prst="rect">
            <a:avLst/>
          </a:prstGeom>
        </p:spPr>
      </p:pic>
      <p:sp>
        <p:nvSpPr>
          <p:cNvPr id="13" name="Text 8"/>
          <p:cNvSpPr txBox="1"/>
          <p:nvPr/>
        </p:nvSpPr>
        <p:spPr>
          <a:xfrm>
            <a:off x="1280160" y="2880360"/>
            <a:ext cx="3200400" cy="365760"/>
          </a:xfrm>
          <a:prstGeom prst="rect">
            <a:avLst/>
          </a:prstGeom>
          <a:noFill/>
          <a:ln/>
        </p:spPr>
        <p:txBody>
          <a:bodyPr wrap="square" lIns="0" tIns="0" rIns="0" bIns="0" rtlCol="0" anchor="t"/>
          <a:lstStyle/>
          <a:p>
            <a:pPr indent="0" marL="0">
              <a:buNone/>
            </a:pPr>
            <a:r>
              <a:rPr lang="en-US" sz="1700" b="1" dirty="0">
                <a:solidFill>
                  <a:schemeClr val="tx1"/>
                </a:solidFill>
              </a:rPr>
              <a:t>Recipient activity report</a:t>
            </a:r>
            <a:endParaRPr lang="en-US" sz="1700" dirty="0"/>
          </a:p>
        </p:txBody>
      </p:sp>
      <p:sp>
        <p:nvSpPr>
          <p:cNvPr id="14" name="Text 9"/>
          <p:cNvSpPr txBox="1"/>
          <p:nvPr/>
        </p:nvSpPr>
        <p:spPr>
          <a:xfrm>
            <a:off x="1280160" y="3273552"/>
            <a:ext cx="3200400" cy="1005840"/>
          </a:xfrm>
          <a:prstGeom prst="rect">
            <a:avLst/>
          </a:prstGeom>
          <a:noFill/>
          <a:ln/>
        </p:spPr>
        <p:txBody>
          <a:bodyPr wrap="square" lIns="0" tIns="0" rIns="0" bIns="0" rtlCol="0" anchor="t"/>
          <a:lstStyle/>
          <a:p>
            <a:pPr indent="0" marL="0">
              <a:buNone/>
            </a:pPr>
            <a:r>
              <a:rPr lang="en-US" sz="1400" dirty="0">
                <a:solidFill>
                  <a:srgbClr val="3D4466"/>
                </a:solidFill>
              </a:rPr>
              <a:t>Every message sent to a person, step by step, ready for a data protection authority, even after erasure</a:t>
            </a:r>
            <a:endParaRPr lang="en-US" sz="1400" dirty="0"/>
          </a:p>
        </p:txBody>
      </p:sp>
      <p:sp>
        <p:nvSpPr>
          <p:cNvPr id="15" name="Append-only audit log circle"/>
          <p:cNvSpPr/>
          <p:nvPr/>
        </p:nvSpPr>
        <p:spPr>
          <a:xfrm>
            <a:off x="4663440" y="2926080"/>
            <a:ext cx="640080" cy="640080"/>
          </a:xfrm>
          <a:prstGeom prst="ellipse">
            <a:avLst/>
          </a:prstGeom>
          <a:solidFill>
            <a:schemeClr val="accent6"/>
          </a:solidFill>
          <a:ln w="12700">
            <a:solidFill>
              <a:schemeClr val="accent6"/>
            </a:solidFill>
            <a:prstDash val="solid"/>
          </a:ln>
        </p:spPr>
      </p:sp>
      <p:pic>
        <p:nvPicPr>
          <p:cNvPr id="16" name="Append-only audit log icon" descr="Append-only audit log">    </p:cNvPr>
          <p:cNvPicPr>
            <a:picLocks noChangeAspect="1"/>
          </p:cNvPicPr>
          <p:nvPr/>
        </p:nvPicPr>
        <p:blipFill>
          <a:blip r:embed="rId4"/>
          <a:stretch>
            <a:fillRect/>
          </a:stretch>
        </p:blipFill>
        <p:spPr>
          <a:xfrm>
            <a:off x="4823460" y="3086100"/>
            <a:ext cx="320040" cy="320040"/>
          </a:xfrm>
          <a:prstGeom prst="rect">
            <a:avLst/>
          </a:prstGeom>
        </p:spPr>
      </p:pic>
      <p:sp>
        <p:nvSpPr>
          <p:cNvPr id="17" name="Text 11"/>
          <p:cNvSpPr txBox="1"/>
          <p:nvPr/>
        </p:nvSpPr>
        <p:spPr>
          <a:xfrm>
            <a:off x="5486400" y="2880360"/>
            <a:ext cx="3200400" cy="365760"/>
          </a:xfrm>
          <a:prstGeom prst="rect">
            <a:avLst/>
          </a:prstGeom>
          <a:noFill/>
          <a:ln/>
        </p:spPr>
        <p:txBody>
          <a:bodyPr wrap="square" lIns="0" tIns="0" rIns="0" bIns="0" rtlCol="0" anchor="t"/>
          <a:lstStyle/>
          <a:p>
            <a:pPr indent="0" marL="0">
              <a:buNone/>
            </a:pPr>
            <a:r>
              <a:rPr lang="en-US" sz="1700" b="1" dirty="0">
                <a:solidFill>
                  <a:schemeClr val="tx1"/>
                </a:solidFill>
              </a:rPr>
              <a:t>Append-only audit log</a:t>
            </a:r>
            <a:endParaRPr lang="en-US" sz="1700" dirty="0"/>
          </a:p>
        </p:txBody>
      </p:sp>
      <p:sp>
        <p:nvSpPr>
          <p:cNvPr id="18" name="Text 12"/>
          <p:cNvSpPr txBox="1"/>
          <p:nvPr/>
        </p:nvSpPr>
        <p:spPr>
          <a:xfrm>
            <a:off x="5486400" y="3273552"/>
            <a:ext cx="3200400" cy="1005840"/>
          </a:xfrm>
          <a:prstGeom prst="rect">
            <a:avLst/>
          </a:prstGeom>
          <a:noFill/>
          <a:ln/>
        </p:spPr>
        <p:txBody>
          <a:bodyPr wrap="square" lIns="0" tIns="0" rIns="0" bIns="0" rtlCol="0" anchor="t"/>
          <a:lstStyle/>
          <a:p>
            <a:pPr indent="0" marL="0">
              <a:buNone/>
            </a:pPr>
            <a:r>
              <a:rPr lang="en-US" sz="1400" dirty="0">
                <a:solidFill>
                  <a:srgbClr val="3D4466"/>
                </a:solidFill>
              </a:rPr>
              <a:t>Every administrator change recorded: who, what, when and the outcome</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B739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640080"/>
          </a:xfrm>
          <a:prstGeom prst="rect">
            <a:avLst/>
          </a:prstGeom>
          <a:noFill/>
          <a:ln/>
        </p:spPr>
        <p:txBody>
          <a:bodyPr wrap="square" lIns="0" tIns="0" rIns="0" bIns="0" rtlCol="0" anchor="ctr"/>
          <a:lstStyle/>
          <a:p>
            <a:pPr indent="0" marL="0">
              <a:buNone/>
            </a:pPr>
            <a:r>
              <a:rPr lang="en-US" sz="3200" b="1" dirty="0">
                <a:solidFill>
                  <a:schemeClr val="tx1"/>
                </a:solidFill>
              </a:rPr>
              <a:t>Secure from the first commit</a:t>
            </a:r>
            <a:endParaRPr lang="en-US" sz="3200" dirty="0"/>
          </a:p>
        </p:txBody>
      </p:sp>
      <p:sp>
        <p:nvSpPr>
          <p:cNvPr id="3" name="Two-factor admins circle"/>
          <p:cNvSpPr/>
          <p:nvPr/>
        </p:nvSpPr>
        <p:spPr>
          <a:xfrm>
            <a:off x="1417320" y="1234440"/>
            <a:ext cx="685800" cy="685800"/>
          </a:xfrm>
          <a:prstGeom prst="ellipse">
            <a:avLst/>
          </a:prstGeom>
          <a:solidFill>
            <a:schemeClr val="accent3"/>
          </a:solidFill>
          <a:ln w="12700">
            <a:solidFill>
              <a:schemeClr val="accent3"/>
            </a:solidFill>
            <a:prstDash val="solid"/>
          </a:ln>
        </p:spPr>
      </p:sp>
      <p:pic>
        <p:nvPicPr>
          <p:cNvPr id="4" name="Two-factor admins icon" descr="Two-factor admins">    </p:cNvPr>
          <p:cNvPicPr>
            <a:picLocks noChangeAspect="1"/>
          </p:cNvPicPr>
          <p:nvPr/>
        </p:nvPicPr>
        <p:blipFill>
          <a:blip r:embed="rId1"/>
          <a:stretch>
            <a:fillRect/>
          </a:stretch>
        </p:blipFill>
        <p:spPr>
          <a:xfrm>
            <a:off x="1588770" y="1405890"/>
            <a:ext cx="342900" cy="342900"/>
          </a:xfrm>
          <a:prstGeom prst="rect">
            <a:avLst/>
          </a:prstGeom>
        </p:spPr>
      </p:pic>
      <p:sp>
        <p:nvSpPr>
          <p:cNvPr id="5" name="Text 2"/>
          <p:cNvSpPr txBox="1"/>
          <p:nvPr/>
        </p:nvSpPr>
        <p:spPr>
          <a:xfrm>
            <a:off x="457200" y="2011680"/>
            <a:ext cx="2651760" cy="320040"/>
          </a:xfrm>
          <a:prstGeom prst="rect">
            <a:avLst/>
          </a:prstGeom>
          <a:noFill/>
          <a:ln/>
        </p:spPr>
        <p:txBody>
          <a:bodyPr wrap="square" lIns="0" tIns="0" rIns="0" bIns="0" rtlCol="0" anchor="t"/>
          <a:lstStyle/>
          <a:p>
            <a:pPr algn="ctr" indent="0" marL="0">
              <a:buNone/>
            </a:pPr>
            <a:r>
              <a:rPr lang="en-US" sz="1600" b="1" dirty="0">
                <a:solidFill>
                  <a:schemeClr val="tx1"/>
                </a:solidFill>
              </a:rPr>
              <a:t>Two-factor admins</a:t>
            </a:r>
            <a:endParaRPr lang="en-US" sz="1600" dirty="0"/>
          </a:p>
        </p:txBody>
      </p:sp>
      <p:sp>
        <p:nvSpPr>
          <p:cNvPr id="6" name="Text 3"/>
          <p:cNvSpPr txBox="1"/>
          <p:nvPr/>
        </p:nvSpPr>
        <p:spPr>
          <a:xfrm>
            <a:off x="457200" y="2331720"/>
            <a:ext cx="2651760" cy="320040"/>
          </a:xfrm>
          <a:prstGeom prst="rect">
            <a:avLst/>
          </a:prstGeom>
          <a:noFill/>
          <a:ln/>
        </p:spPr>
        <p:txBody>
          <a:bodyPr wrap="square" lIns="0" tIns="0" rIns="0" bIns="0" rtlCol="0" anchor="t"/>
          <a:lstStyle/>
          <a:p>
            <a:pPr algn="ctr" indent="0" marL="0">
              <a:buNone/>
            </a:pPr>
            <a:r>
              <a:rPr lang="en-US" sz="1300" dirty="0">
                <a:solidFill>
                  <a:srgbClr val="3D4466"/>
                </a:solidFill>
              </a:rPr>
              <a:t>Enforced password change and 2FA</a:t>
            </a:r>
            <a:endParaRPr lang="en-US" sz="1300" dirty="0"/>
          </a:p>
        </p:txBody>
      </p:sp>
      <p:sp>
        <p:nvSpPr>
          <p:cNvPr id="7" name="Least privilege circle"/>
          <p:cNvSpPr/>
          <p:nvPr/>
        </p:nvSpPr>
        <p:spPr>
          <a:xfrm>
            <a:off x="4206240" y="1234440"/>
            <a:ext cx="685800" cy="685800"/>
          </a:xfrm>
          <a:prstGeom prst="ellipse">
            <a:avLst/>
          </a:prstGeom>
          <a:solidFill>
            <a:schemeClr val="accent1"/>
          </a:solidFill>
          <a:ln w="12700">
            <a:solidFill>
              <a:schemeClr val="accent1"/>
            </a:solidFill>
            <a:prstDash val="solid"/>
          </a:ln>
        </p:spPr>
      </p:sp>
      <p:pic>
        <p:nvPicPr>
          <p:cNvPr id="8" name="Least privilege icon" descr="Least privilege">    </p:cNvPr>
          <p:cNvPicPr>
            <a:picLocks noChangeAspect="1"/>
          </p:cNvPicPr>
          <p:nvPr/>
        </p:nvPicPr>
        <p:blipFill>
          <a:blip r:embed="rId2"/>
          <a:stretch>
            <a:fillRect/>
          </a:stretch>
        </p:blipFill>
        <p:spPr>
          <a:xfrm>
            <a:off x="4377690" y="1405890"/>
            <a:ext cx="342900" cy="342900"/>
          </a:xfrm>
          <a:prstGeom prst="rect">
            <a:avLst/>
          </a:prstGeom>
        </p:spPr>
      </p:pic>
      <p:sp>
        <p:nvSpPr>
          <p:cNvPr id="9" name="Text 5"/>
          <p:cNvSpPr txBox="1"/>
          <p:nvPr/>
        </p:nvSpPr>
        <p:spPr>
          <a:xfrm>
            <a:off x="3246120" y="2011680"/>
            <a:ext cx="2651760" cy="320040"/>
          </a:xfrm>
          <a:prstGeom prst="rect">
            <a:avLst/>
          </a:prstGeom>
          <a:noFill/>
          <a:ln/>
        </p:spPr>
        <p:txBody>
          <a:bodyPr wrap="square" lIns="0" tIns="0" rIns="0" bIns="0" rtlCol="0" anchor="t"/>
          <a:lstStyle/>
          <a:p>
            <a:pPr algn="ctr" indent="0" marL="0">
              <a:buNone/>
            </a:pPr>
            <a:r>
              <a:rPr lang="en-US" sz="1600" b="1" dirty="0">
                <a:solidFill>
                  <a:schemeClr val="tx1"/>
                </a:solidFill>
              </a:rPr>
              <a:t>Least privilege</a:t>
            </a:r>
            <a:endParaRPr lang="en-US" sz="1600" dirty="0"/>
          </a:p>
        </p:txBody>
      </p:sp>
      <p:sp>
        <p:nvSpPr>
          <p:cNvPr id="10" name="Text 6"/>
          <p:cNvSpPr txBox="1"/>
          <p:nvPr/>
        </p:nvSpPr>
        <p:spPr>
          <a:xfrm>
            <a:off x="3246120" y="2331720"/>
            <a:ext cx="2651760" cy="320040"/>
          </a:xfrm>
          <a:prstGeom prst="rect">
            <a:avLst/>
          </a:prstGeom>
          <a:noFill/>
          <a:ln/>
        </p:spPr>
        <p:txBody>
          <a:bodyPr wrap="square" lIns="0" tIns="0" rIns="0" bIns="0" rtlCol="0" anchor="t"/>
          <a:lstStyle/>
          <a:p>
            <a:pPr algn="ctr" indent="0" marL="0">
              <a:buNone/>
            </a:pPr>
            <a:r>
              <a:rPr lang="en-US" sz="1300" dirty="0">
                <a:solidFill>
                  <a:srgbClr val="3D4466"/>
                </a:solidFill>
              </a:rPr>
              <a:t>Viewer, operator and admin roles</a:t>
            </a:r>
            <a:endParaRPr lang="en-US" sz="1300" dirty="0"/>
          </a:p>
        </p:txBody>
      </p:sp>
      <p:sp>
        <p:nvSpPr>
          <p:cNvPr id="11" name="Signed requests circle"/>
          <p:cNvSpPr/>
          <p:nvPr/>
        </p:nvSpPr>
        <p:spPr>
          <a:xfrm>
            <a:off x="6995160" y="1234440"/>
            <a:ext cx="685800" cy="685800"/>
          </a:xfrm>
          <a:prstGeom prst="ellipse">
            <a:avLst/>
          </a:prstGeom>
          <a:solidFill>
            <a:schemeClr val="accent5"/>
          </a:solidFill>
          <a:ln w="12700">
            <a:solidFill>
              <a:schemeClr val="accent5"/>
            </a:solidFill>
            <a:prstDash val="solid"/>
          </a:ln>
        </p:spPr>
      </p:sp>
      <p:pic>
        <p:nvPicPr>
          <p:cNvPr id="12" name="Signed requests icon" descr="Signed requests">    </p:cNvPr>
          <p:cNvPicPr>
            <a:picLocks noChangeAspect="1"/>
          </p:cNvPicPr>
          <p:nvPr/>
        </p:nvPicPr>
        <p:blipFill>
          <a:blip r:embed="rId3"/>
          <a:stretch>
            <a:fillRect/>
          </a:stretch>
        </p:blipFill>
        <p:spPr>
          <a:xfrm>
            <a:off x="7166610" y="1405890"/>
            <a:ext cx="342900" cy="342900"/>
          </a:xfrm>
          <a:prstGeom prst="rect">
            <a:avLst/>
          </a:prstGeom>
        </p:spPr>
      </p:pic>
      <p:sp>
        <p:nvSpPr>
          <p:cNvPr id="13" name="Text 8"/>
          <p:cNvSpPr txBox="1"/>
          <p:nvPr/>
        </p:nvSpPr>
        <p:spPr>
          <a:xfrm>
            <a:off x="6035040" y="2011680"/>
            <a:ext cx="2651760" cy="320040"/>
          </a:xfrm>
          <a:prstGeom prst="rect">
            <a:avLst/>
          </a:prstGeom>
          <a:noFill/>
          <a:ln/>
        </p:spPr>
        <p:txBody>
          <a:bodyPr wrap="square" lIns="0" tIns="0" rIns="0" bIns="0" rtlCol="0" anchor="t"/>
          <a:lstStyle/>
          <a:p>
            <a:pPr algn="ctr" indent="0" marL="0">
              <a:buNone/>
            </a:pPr>
            <a:r>
              <a:rPr lang="en-US" sz="1600" b="1" dirty="0">
                <a:solidFill>
                  <a:schemeClr val="tx1"/>
                </a:solidFill>
              </a:rPr>
              <a:t>Signed requests</a:t>
            </a:r>
            <a:endParaRPr lang="en-US" sz="1600" dirty="0"/>
          </a:p>
        </p:txBody>
      </p:sp>
      <p:sp>
        <p:nvSpPr>
          <p:cNvPr id="14" name="Text 9"/>
          <p:cNvSpPr txBox="1"/>
          <p:nvPr/>
        </p:nvSpPr>
        <p:spPr>
          <a:xfrm>
            <a:off x="6035040" y="2331720"/>
            <a:ext cx="2651760" cy="320040"/>
          </a:xfrm>
          <a:prstGeom prst="rect">
            <a:avLst/>
          </a:prstGeom>
          <a:noFill/>
          <a:ln/>
        </p:spPr>
        <p:txBody>
          <a:bodyPr wrap="square" lIns="0" tIns="0" rIns="0" bIns="0" rtlCol="0" anchor="t"/>
          <a:lstStyle/>
          <a:p>
            <a:pPr algn="ctr" indent="0" marL="0">
              <a:buNone/>
            </a:pPr>
            <a:r>
              <a:rPr lang="en-US" sz="1300" dirty="0">
                <a:solidFill>
                  <a:srgbClr val="3D4466"/>
                </a:solidFill>
              </a:rPr>
              <a:t>Replayed or altered API calls refused</a:t>
            </a:r>
            <a:endParaRPr lang="en-US" sz="1300" dirty="0"/>
          </a:p>
        </p:txBody>
      </p:sp>
      <p:sp>
        <p:nvSpPr>
          <p:cNvPr id="15" name="Safe destinations circle"/>
          <p:cNvSpPr/>
          <p:nvPr/>
        </p:nvSpPr>
        <p:spPr>
          <a:xfrm>
            <a:off x="1417320" y="2834640"/>
            <a:ext cx="685800" cy="685800"/>
          </a:xfrm>
          <a:prstGeom prst="ellipse">
            <a:avLst/>
          </a:prstGeom>
          <a:solidFill>
            <a:schemeClr val="accent2"/>
          </a:solidFill>
          <a:ln w="12700">
            <a:solidFill>
              <a:schemeClr val="accent2"/>
            </a:solidFill>
            <a:prstDash val="solid"/>
          </a:ln>
        </p:spPr>
      </p:sp>
      <p:pic>
        <p:nvPicPr>
          <p:cNvPr id="16" name="Safe destinations icon" descr="Safe destinations">    </p:cNvPr>
          <p:cNvPicPr>
            <a:picLocks noChangeAspect="1"/>
          </p:cNvPicPr>
          <p:nvPr/>
        </p:nvPicPr>
        <p:blipFill>
          <a:blip r:embed="rId4"/>
          <a:stretch>
            <a:fillRect/>
          </a:stretch>
        </p:blipFill>
        <p:spPr>
          <a:xfrm>
            <a:off x="1588770" y="3006090"/>
            <a:ext cx="342900" cy="342900"/>
          </a:xfrm>
          <a:prstGeom prst="rect">
            <a:avLst/>
          </a:prstGeom>
        </p:spPr>
      </p:pic>
      <p:sp>
        <p:nvSpPr>
          <p:cNvPr id="17" name="Text 11"/>
          <p:cNvSpPr txBox="1"/>
          <p:nvPr/>
        </p:nvSpPr>
        <p:spPr>
          <a:xfrm>
            <a:off x="457200" y="3611880"/>
            <a:ext cx="2651760" cy="320040"/>
          </a:xfrm>
          <a:prstGeom prst="rect">
            <a:avLst/>
          </a:prstGeom>
          <a:noFill/>
          <a:ln/>
        </p:spPr>
        <p:txBody>
          <a:bodyPr wrap="square" lIns="0" tIns="0" rIns="0" bIns="0" rtlCol="0" anchor="t"/>
          <a:lstStyle/>
          <a:p>
            <a:pPr algn="ctr" indent="0" marL="0">
              <a:buNone/>
            </a:pPr>
            <a:r>
              <a:rPr lang="en-US" sz="1600" b="1" dirty="0">
                <a:solidFill>
                  <a:schemeClr val="tx1"/>
                </a:solidFill>
              </a:rPr>
              <a:t>Safe destinations</a:t>
            </a:r>
            <a:endParaRPr lang="en-US" sz="1600" dirty="0"/>
          </a:p>
        </p:txBody>
      </p:sp>
      <p:sp>
        <p:nvSpPr>
          <p:cNvPr id="18" name="Text 12"/>
          <p:cNvSpPr txBox="1"/>
          <p:nvPr/>
        </p:nvSpPr>
        <p:spPr>
          <a:xfrm>
            <a:off x="457200" y="3931920"/>
            <a:ext cx="2651760" cy="320040"/>
          </a:xfrm>
          <a:prstGeom prst="rect">
            <a:avLst/>
          </a:prstGeom>
          <a:noFill/>
          <a:ln/>
        </p:spPr>
        <p:txBody>
          <a:bodyPr wrap="square" lIns="0" tIns="0" rIns="0" bIns="0" rtlCol="0" anchor="t"/>
          <a:lstStyle/>
          <a:p>
            <a:pPr algn="ctr" indent="0" marL="0">
              <a:buNone/>
            </a:pPr>
            <a:r>
              <a:rPr lang="en-US" sz="1300" dirty="0">
                <a:solidFill>
                  <a:srgbClr val="3D4466"/>
                </a:solidFill>
              </a:rPr>
              <a:t>Provider URL policy blocks SSRF</a:t>
            </a:r>
            <a:endParaRPr lang="en-US" sz="1300" dirty="0"/>
          </a:p>
        </p:txBody>
      </p:sp>
      <p:sp>
        <p:nvSpPr>
          <p:cNvPr id="19" name="No default secrets circle"/>
          <p:cNvSpPr/>
          <p:nvPr/>
        </p:nvSpPr>
        <p:spPr>
          <a:xfrm>
            <a:off x="4206240" y="2834640"/>
            <a:ext cx="685800" cy="685800"/>
          </a:xfrm>
          <a:prstGeom prst="ellipse">
            <a:avLst/>
          </a:prstGeom>
          <a:solidFill>
            <a:schemeClr val="accent6"/>
          </a:solidFill>
          <a:ln w="12700">
            <a:solidFill>
              <a:schemeClr val="accent6"/>
            </a:solidFill>
            <a:prstDash val="solid"/>
          </a:ln>
        </p:spPr>
      </p:sp>
      <p:pic>
        <p:nvPicPr>
          <p:cNvPr id="20" name="No default secrets icon" descr="No default secrets">    </p:cNvPr>
          <p:cNvPicPr>
            <a:picLocks noChangeAspect="1"/>
          </p:cNvPicPr>
          <p:nvPr/>
        </p:nvPicPr>
        <p:blipFill>
          <a:blip r:embed="rId5"/>
          <a:stretch>
            <a:fillRect/>
          </a:stretch>
        </p:blipFill>
        <p:spPr>
          <a:xfrm>
            <a:off x="4377690" y="3006090"/>
            <a:ext cx="342900" cy="342900"/>
          </a:xfrm>
          <a:prstGeom prst="rect">
            <a:avLst/>
          </a:prstGeom>
        </p:spPr>
      </p:pic>
      <p:sp>
        <p:nvSpPr>
          <p:cNvPr id="21" name="Text 14"/>
          <p:cNvSpPr txBox="1"/>
          <p:nvPr/>
        </p:nvSpPr>
        <p:spPr>
          <a:xfrm>
            <a:off x="3246120" y="3611880"/>
            <a:ext cx="2651760" cy="320040"/>
          </a:xfrm>
          <a:prstGeom prst="rect">
            <a:avLst/>
          </a:prstGeom>
          <a:noFill/>
          <a:ln/>
        </p:spPr>
        <p:txBody>
          <a:bodyPr wrap="square" lIns="0" tIns="0" rIns="0" bIns="0" rtlCol="0" anchor="t"/>
          <a:lstStyle/>
          <a:p>
            <a:pPr algn="ctr" indent="0" marL="0">
              <a:buNone/>
            </a:pPr>
            <a:r>
              <a:rPr lang="en-US" sz="1600" b="1" dirty="0">
                <a:solidFill>
                  <a:schemeClr val="tx1"/>
                </a:solidFill>
              </a:rPr>
              <a:t>No default secrets</a:t>
            </a:r>
            <a:endParaRPr lang="en-US" sz="1600" dirty="0"/>
          </a:p>
        </p:txBody>
      </p:sp>
      <p:sp>
        <p:nvSpPr>
          <p:cNvPr id="22" name="Text 15"/>
          <p:cNvSpPr txBox="1"/>
          <p:nvPr/>
        </p:nvSpPr>
        <p:spPr>
          <a:xfrm>
            <a:off x="3246120" y="3931920"/>
            <a:ext cx="2651760" cy="320040"/>
          </a:xfrm>
          <a:prstGeom prst="rect">
            <a:avLst/>
          </a:prstGeom>
          <a:noFill/>
          <a:ln/>
        </p:spPr>
        <p:txBody>
          <a:bodyPr wrap="square" lIns="0" tIns="0" rIns="0" bIns="0" rtlCol="0" anchor="t"/>
          <a:lstStyle/>
          <a:p>
            <a:pPr algn="ctr" indent="0" marL="0">
              <a:buNone/>
            </a:pPr>
            <a:r>
              <a:rPr lang="en-US" sz="1300" dirty="0">
                <a:solidFill>
                  <a:srgbClr val="3D4466"/>
                </a:solidFill>
              </a:rPr>
              <a:t>Services refuse to start with them</a:t>
            </a:r>
            <a:endParaRPr lang="en-US" sz="1300" dirty="0"/>
          </a:p>
        </p:txBody>
      </p:sp>
      <p:sp>
        <p:nvSpPr>
          <p:cNvPr id="23" name="Trusted supply chain circle"/>
          <p:cNvSpPr/>
          <p:nvPr/>
        </p:nvSpPr>
        <p:spPr>
          <a:xfrm>
            <a:off x="6995160" y="2834640"/>
            <a:ext cx="685800" cy="685800"/>
          </a:xfrm>
          <a:prstGeom prst="ellipse">
            <a:avLst/>
          </a:prstGeom>
          <a:solidFill>
            <a:schemeClr val="accent4"/>
          </a:solidFill>
          <a:ln w="12700">
            <a:solidFill>
              <a:schemeClr val="accent4"/>
            </a:solidFill>
            <a:prstDash val="solid"/>
          </a:ln>
        </p:spPr>
      </p:sp>
      <p:pic>
        <p:nvPicPr>
          <p:cNvPr id="24" name="Trusted supply chain icon" descr="Trusted supply chain">    </p:cNvPr>
          <p:cNvPicPr>
            <a:picLocks noChangeAspect="1"/>
          </p:cNvPicPr>
          <p:nvPr/>
        </p:nvPicPr>
        <p:blipFill>
          <a:blip r:embed="rId6"/>
          <a:stretch>
            <a:fillRect/>
          </a:stretch>
        </p:blipFill>
        <p:spPr>
          <a:xfrm>
            <a:off x="7166610" y="3006090"/>
            <a:ext cx="342900" cy="342900"/>
          </a:xfrm>
          <a:prstGeom prst="rect">
            <a:avLst/>
          </a:prstGeom>
        </p:spPr>
      </p:pic>
      <p:sp>
        <p:nvSpPr>
          <p:cNvPr id="25" name="Text 17"/>
          <p:cNvSpPr txBox="1"/>
          <p:nvPr/>
        </p:nvSpPr>
        <p:spPr>
          <a:xfrm>
            <a:off x="6035040" y="3611880"/>
            <a:ext cx="2651760" cy="320040"/>
          </a:xfrm>
          <a:prstGeom prst="rect">
            <a:avLst/>
          </a:prstGeom>
          <a:noFill/>
          <a:ln/>
        </p:spPr>
        <p:txBody>
          <a:bodyPr wrap="square" lIns="0" tIns="0" rIns="0" bIns="0" rtlCol="0" anchor="t"/>
          <a:lstStyle/>
          <a:p>
            <a:pPr algn="ctr" indent="0" marL="0">
              <a:buNone/>
            </a:pPr>
            <a:r>
              <a:rPr lang="en-US" sz="1600" b="1" dirty="0">
                <a:solidFill>
                  <a:schemeClr val="tx1"/>
                </a:solidFill>
              </a:rPr>
              <a:t>Trusted supply chain</a:t>
            </a:r>
            <a:endParaRPr lang="en-US" sz="1600" dirty="0"/>
          </a:p>
        </p:txBody>
      </p:sp>
      <p:sp>
        <p:nvSpPr>
          <p:cNvPr id="26" name="Text 18"/>
          <p:cNvSpPr txBox="1"/>
          <p:nvPr/>
        </p:nvSpPr>
        <p:spPr>
          <a:xfrm>
            <a:off x="6035040" y="3931920"/>
            <a:ext cx="2651760" cy="320040"/>
          </a:xfrm>
          <a:prstGeom prst="rect">
            <a:avLst/>
          </a:prstGeom>
          <a:noFill/>
          <a:ln/>
        </p:spPr>
        <p:txBody>
          <a:bodyPr wrap="square" lIns="0" tIns="0" rIns="0" bIns="0" rtlCol="0" anchor="t"/>
          <a:lstStyle/>
          <a:p>
            <a:pPr algn="ctr" indent="0" marL="0">
              <a:buNone/>
            </a:pPr>
            <a:r>
              <a:rPr lang="en-US" sz="1300" dirty="0">
                <a:solidFill>
                  <a:srgbClr val="3D4466"/>
                </a:solidFill>
              </a:rPr>
              <a:t>Signed images, SBOMs, CodeQL scans</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B739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640080"/>
          </a:xfrm>
          <a:prstGeom prst="rect">
            <a:avLst/>
          </a:prstGeom>
          <a:noFill/>
          <a:ln/>
        </p:spPr>
        <p:txBody>
          <a:bodyPr wrap="square" lIns="0" tIns="0" rIns="0" bIns="0" rtlCol="0" anchor="ctr"/>
          <a:lstStyle/>
          <a:p>
            <a:pPr indent="0" marL="0">
              <a:buNone/>
            </a:pPr>
            <a:r>
              <a:rPr lang="en-US" sz="3200" b="1" dirty="0">
                <a:solidFill>
                  <a:schemeClr val="tx1"/>
                </a:solidFill>
              </a:rPr>
              <a:t>Operate with confidence</a:t>
            </a:r>
            <a:endParaRPr lang="en-US" sz="3200" dirty="0"/>
          </a:p>
        </p:txBody>
      </p:sp>
      <p:sp>
        <p:nvSpPr>
          <p:cNvPr id="3" name="Observe column"/>
          <p:cNvSpPr/>
          <p:nvPr/>
        </p:nvSpPr>
        <p:spPr>
          <a:xfrm>
            <a:off x="457200" y="1188720"/>
            <a:ext cx="2651760" cy="2743200"/>
          </a:xfrm>
          <a:prstGeom prst="roundRect">
            <a:avLst>
              <a:gd name="adj" fmla="val 4138"/>
            </a:avLst>
          </a:prstGeom>
          <a:solidFill>
            <a:schemeClr val="bg2"/>
          </a:solidFill>
          <a:ln w="12700">
            <a:solidFill>
              <a:schemeClr val="bg2"/>
            </a:solidFill>
            <a:prstDash val="solid"/>
          </a:ln>
          <a:effectLst>
            <a:outerShdw sx="100000" sy="100000" kx="0" ky="0" algn="bl" rotWithShape="0" blurRad="76200" dist="25400" dir="5400000">
              <a:srgbClr val="161A36">
                <a:alpha val="10000"/>
              </a:srgbClr>
            </a:outerShdw>
          </a:effectLst>
        </p:spPr>
      </p:sp>
      <p:sp>
        <p:nvSpPr>
          <p:cNvPr id="4" name="Observe circle"/>
          <p:cNvSpPr/>
          <p:nvPr/>
        </p:nvSpPr>
        <p:spPr>
          <a:xfrm>
            <a:off x="685800" y="1371600"/>
            <a:ext cx="548640" cy="548640"/>
          </a:xfrm>
          <a:prstGeom prst="ellipse">
            <a:avLst/>
          </a:prstGeom>
          <a:solidFill>
            <a:schemeClr val="accent1"/>
          </a:solidFill>
          <a:ln w="12700">
            <a:solidFill>
              <a:schemeClr val="accent1"/>
            </a:solidFill>
            <a:prstDash val="solid"/>
          </a:ln>
        </p:spPr>
      </p:sp>
      <p:pic>
        <p:nvPicPr>
          <p:cNvPr id="5" name="Observe icon" descr="Observe">    </p:cNvPr>
          <p:cNvPicPr>
            <a:picLocks noChangeAspect="1"/>
          </p:cNvPicPr>
          <p:nvPr/>
        </p:nvPicPr>
        <p:blipFill>
          <a:blip r:embed="rId1"/>
          <a:stretch>
            <a:fillRect/>
          </a:stretch>
        </p:blipFill>
        <p:spPr>
          <a:xfrm>
            <a:off x="822960" y="1508760"/>
            <a:ext cx="274320" cy="274320"/>
          </a:xfrm>
          <a:prstGeom prst="rect">
            <a:avLst/>
          </a:prstGeom>
        </p:spPr>
      </p:pic>
      <p:sp>
        <p:nvSpPr>
          <p:cNvPr id="6" name="Text 3"/>
          <p:cNvSpPr txBox="1"/>
          <p:nvPr/>
        </p:nvSpPr>
        <p:spPr>
          <a:xfrm>
            <a:off x="1371600" y="1463040"/>
            <a:ext cx="1645920" cy="365760"/>
          </a:xfrm>
          <a:prstGeom prst="rect">
            <a:avLst/>
          </a:prstGeom>
          <a:noFill/>
          <a:ln/>
        </p:spPr>
        <p:txBody>
          <a:bodyPr wrap="square" lIns="0" tIns="0" rIns="0" bIns="0" rtlCol="0" anchor="t"/>
          <a:lstStyle/>
          <a:p>
            <a:pPr indent="0" marL="0">
              <a:buNone/>
            </a:pPr>
            <a:r>
              <a:rPr lang="en-US" sz="1900" b="1" dirty="0">
                <a:solidFill>
                  <a:schemeClr val="tx1"/>
                </a:solidFill>
              </a:rPr>
              <a:t>Observe</a:t>
            </a:r>
            <a:endParaRPr lang="en-US" sz="1900" dirty="0"/>
          </a:p>
        </p:txBody>
      </p:sp>
      <p:sp>
        <p:nvSpPr>
          <p:cNvPr id="7" name="Text 4"/>
          <p:cNvSpPr txBox="1"/>
          <p:nvPr/>
        </p:nvSpPr>
        <p:spPr>
          <a:xfrm>
            <a:off x="685800" y="2103120"/>
            <a:ext cx="2286000" cy="17373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3D4466"/>
                </a:solidFill>
              </a:rPr>
              <a:t>OpenTelemetry tracing end to end</a:t>
            </a:r>
            <a:endParaRPr lang="en-US" sz="1400" dirty="0"/>
          </a:p>
          <a:p>
            <a:pPr marL="342900" indent="-342900">
              <a:spcAft>
                <a:spcPts val="800"/>
              </a:spcAft>
              <a:buSzPct val="100000"/>
              <a:buChar char="•"/>
            </a:pPr>
            <a:r>
              <a:rPr lang="en-US" sz="1400" dirty="0">
                <a:solidFill>
                  <a:srgbClr val="3D4466"/>
                </a:solidFill>
              </a:rPr>
              <a:t>Structured JSON logs with trace ids</a:t>
            </a:r>
            <a:endParaRPr lang="en-US" sz="1400" dirty="0"/>
          </a:p>
          <a:p>
            <a:pPr marL="342900" indent="-342900">
              <a:spcAft>
                <a:spcPts val="800"/>
              </a:spcAft>
              <a:buSzPct val="100000"/>
              <a:buChar char="•"/>
            </a:pPr>
            <a:r>
              <a:rPr lang="en-US" sz="1400" dirty="0">
                <a:solidFill>
                  <a:srgbClr val="3D4466"/>
                </a:solidFill>
              </a:rPr>
              <a:t>Prometheus metrics and SLO alerts</a:t>
            </a:r>
            <a:endParaRPr lang="en-US" sz="1400" dirty="0"/>
          </a:p>
        </p:txBody>
      </p:sp>
      <p:sp>
        <p:nvSpPr>
          <p:cNvPr id="8" name="Deploy column"/>
          <p:cNvSpPr/>
          <p:nvPr/>
        </p:nvSpPr>
        <p:spPr>
          <a:xfrm>
            <a:off x="3246120" y="1188720"/>
            <a:ext cx="2651760" cy="2743200"/>
          </a:xfrm>
          <a:prstGeom prst="roundRect">
            <a:avLst>
              <a:gd name="adj" fmla="val 4138"/>
            </a:avLst>
          </a:prstGeom>
          <a:solidFill>
            <a:schemeClr val="bg2"/>
          </a:solidFill>
          <a:ln w="12700">
            <a:solidFill>
              <a:schemeClr val="bg2"/>
            </a:solidFill>
            <a:prstDash val="solid"/>
          </a:ln>
          <a:effectLst>
            <a:outerShdw sx="100000" sy="100000" kx="0" ky="0" algn="bl" rotWithShape="0" blurRad="76200" dist="25400" dir="5400000">
              <a:srgbClr val="161A36">
                <a:alpha val="10000"/>
              </a:srgbClr>
            </a:outerShdw>
          </a:effectLst>
        </p:spPr>
      </p:sp>
      <p:sp>
        <p:nvSpPr>
          <p:cNvPr id="9" name="Deploy circle"/>
          <p:cNvSpPr/>
          <p:nvPr/>
        </p:nvSpPr>
        <p:spPr>
          <a:xfrm>
            <a:off x="3474720" y="1371600"/>
            <a:ext cx="548640" cy="548640"/>
          </a:xfrm>
          <a:prstGeom prst="ellipse">
            <a:avLst/>
          </a:prstGeom>
          <a:solidFill>
            <a:schemeClr val="accent3"/>
          </a:solidFill>
          <a:ln w="12700">
            <a:solidFill>
              <a:schemeClr val="accent3"/>
            </a:solidFill>
            <a:prstDash val="solid"/>
          </a:ln>
        </p:spPr>
      </p:sp>
      <p:pic>
        <p:nvPicPr>
          <p:cNvPr id="10" name="Deploy icon" descr="Deploy">    </p:cNvPr>
          <p:cNvPicPr>
            <a:picLocks noChangeAspect="1"/>
          </p:cNvPicPr>
          <p:nvPr/>
        </p:nvPicPr>
        <p:blipFill>
          <a:blip r:embed="rId2"/>
          <a:stretch>
            <a:fillRect/>
          </a:stretch>
        </p:blipFill>
        <p:spPr>
          <a:xfrm>
            <a:off x="3611880" y="1508760"/>
            <a:ext cx="274320" cy="274320"/>
          </a:xfrm>
          <a:prstGeom prst="rect">
            <a:avLst/>
          </a:prstGeom>
        </p:spPr>
      </p:pic>
      <p:sp>
        <p:nvSpPr>
          <p:cNvPr id="11" name="Text 7"/>
          <p:cNvSpPr txBox="1"/>
          <p:nvPr/>
        </p:nvSpPr>
        <p:spPr>
          <a:xfrm>
            <a:off x="4160520" y="1463040"/>
            <a:ext cx="1645920" cy="365760"/>
          </a:xfrm>
          <a:prstGeom prst="rect">
            <a:avLst/>
          </a:prstGeom>
          <a:noFill/>
          <a:ln/>
        </p:spPr>
        <p:txBody>
          <a:bodyPr wrap="square" lIns="0" tIns="0" rIns="0" bIns="0" rtlCol="0" anchor="t"/>
          <a:lstStyle/>
          <a:p>
            <a:pPr indent="0" marL="0">
              <a:buNone/>
            </a:pPr>
            <a:r>
              <a:rPr lang="en-US" sz="1900" b="1" dirty="0">
                <a:solidFill>
                  <a:schemeClr val="tx1"/>
                </a:solidFill>
              </a:rPr>
              <a:t>Deploy</a:t>
            </a:r>
            <a:endParaRPr lang="en-US" sz="1900" dirty="0"/>
          </a:p>
        </p:txBody>
      </p:sp>
      <p:sp>
        <p:nvSpPr>
          <p:cNvPr id="12" name="Text 8"/>
          <p:cNvSpPr txBox="1"/>
          <p:nvPr/>
        </p:nvSpPr>
        <p:spPr>
          <a:xfrm>
            <a:off x="3474720" y="2103120"/>
            <a:ext cx="2286000" cy="17373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3D4466"/>
                </a:solidFill>
              </a:rPr>
              <a:t>Docker Compose for local use</a:t>
            </a:r>
            <a:endParaRPr lang="en-US" sz="1400" dirty="0"/>
          </a:p>
          <a:p>
            <a:pPr marL="342900" indent="-342900">
              <a:spcAft>
                <a:spcPts val="800"/>
              </a:spcAft>
              <a:buSzPct val="100000"/>
              <a:buChar char="•"/>
            </a:pPr>
            <a:r>
              <a:rPr lang="en-US" sz="1400" dirty="0">
                <a:solidFill>
                  <a:srgbClr val="3D4466"/>
                </a:solidFill>
              </a:rPr>
              <a:t>Helm chart for Kubernetes</a:t>
            </a:r>
            <a:endParaRPr lang="en-US" sz="1400" dirty="0"/>
          </a:p>
          <a:p>
            <a:pPr marL="342900" indent="-342900">
              <a:spcAft>
                <a:spcPts val="800"/>
              </a:spcAft>
              <a:buSzPct val="100000"/>
              <a:buChar char="•"/>
            </a:pPr>
            <a:r>
              <a:rPr lang="en-US" sz="1400" dirty="0">
                <a:solidFill>
                  <a:srgbClr val="3D4466"/>
                </a:solidFill>
              </a:rPr>
              <a:t>Terraform for AWS, Azure and GCP</a:t>
            </a:r>
            <a:endParaRPr lang="en-US" sz="1400" dirty="0"/>
          </a:p>
        </p:txBody>
      </p:sp>
      <p:sp>
        <p:nvSpPr>
          <p:cNvPr id="13" name="Protect data column"/>
          <p:cNvSpPr/>
          <p:nvPr/>
        </p:nvSpPr>
        <p:spPr>
          <a:xfrm>
            <a:off x="6035040" y="1188720"/>
            <a:ext cx="2651760" cy="2743200"/>
          </a:xfrm>
          <a:prstGeom prst="roundRect">
            <a:avLst>
              <a:gd name="adj" fmla="val 4138"/>
            </a:avLst>
          </a:prstGeom>
          <a:solidFill>
            <a:schemeClr val="bg2"/>
          </a:solidFill>
          <a:ln w="12700">
            <a:solidFill>
              <a:schemeClr val="bg2"/>
            </a:solidFill>
            <a:prstDash val="solid"/>
          </a:ln>
          <a:effectLst>
            <a:outerShdw sx="100000" sy="100000" kx="0" ky="0" algn="bl" rotWithShape="0" blurRad="76200" dist="25400" dir="5400000">
              <a:srgbClr val="161A36">
                <a:alpha val="10000"/>
              </a:srgbClr>
            </a:outerShdw>
          </a:effectLst>
        </p:spPr>
      </p:sp>
      <p:sp>
        <p:nvSpPr>
          <p:cNvPr id="14" name="Protect data circle"/>
          <p:cNvSpPr/>
          <p:nvPr/>
        </p:nvSpPr>
        <p:spPr>
          <a:xfrm>
            <a:off x="6263640" y="1371600"/>
            <a:ext cx="548640" cy="548640"/>
          </a:xfrm>
          <a:prstGeom prst="ellipse">
            <a:avLst/>
          </a:prstGeom>
          <a:solidFill>
            <a:schemeClr val="accent2"/>
          </a:solidFill>
          <a:ln w="12700">
            <a:solidFill>
              <a:schemeClr val="accent2"/>
            </a:solidFill>
            <a:prstDash val="solid"/>
          </a:ln>
        </p:spPr>
      </p:sp>
      <p:pic>
        <p:nvPicPr>
          <p:cNvPr id="15" name="Protect data icon" descr="Protect data">    </p:cNvPr>
          <p:cNvPicPr>
            <a:picLocks noChangeAspect="1"/>
          </p:cNvPicPr>
          <p:nvPr/>
        </p:nvPicPr>
        <p:blipFill>
          <a:blip r:embed="rId3"/>
          <a:stretch>
            <a:fillRect/>
          </a:stretch>
        </p:blipFill>
        <p:spPr>
          <a:xfrm>
            <a:off x="6400800" y="1508760"/>
            <a:ext cx="274320" cy="274320"/>
          </a:xfrm>
          <a:prstGeom prst="rect">
            <a:avLst/>
          </a:prstGeom>
        </p:spPr>
      </p:pic>
      <p:sp>
        <p:nvSpPr>
          <p:cNvPr id="16" name="Text 11"/>
          <p:cNvSpPr txBox="1"/>
          <p:nvPr/>
        </p:nvSpPr>
        <p:spPr>
          <a:xfrm>
            <a:off x="6949440" y="1463040"/>
            <a:ext cx="1645920" cy="365760"/>
          </a:xfrm>
          <a:prstGeom prst="rect">
            <a:avLst/>
          </a:prstGeom>
          <a:noFill/>
          <a:ln/>
        </p:spPr>
        <p:txBody>
          <a:bodyPr wrap="square" lIns="0" tIns="0" rIns="0" bIns="0" rtlCol="0" anchor="t"/>
          <a:lstStyle/>
          <a:p>
            <a:pPr indent="0" marL="0">
              <a:buNone/>
            </a:pPr>
            <a:r>
              <a:rPr lang="en-US" sz="1900" b="1" dirty="0">
                <a:solidFill>
                  <a:schemeClr val="tx1"/>
                </a:solidFill>
              </a:rPr>
              <a:t>Protect data</a:t>
            </a:r>
            <a:endParaRPr lang="en-US" sz="1900" dirty="0"/>
          </a:p>
        </p:txBody>
      </p:sp>
      <p:sp>
        <p:nvSpPr>
          <p:cNvPr id="17" name="Text 12"/>
          <p:cNvSpPr txBox="1"/>
          <p:nvPr/>
        </p:nvSpPr>
        <p:spPr>
          <a:xfrm>
            <a:off x="6263640" y="2103120"/>
            <a:ext cx="2286000" cy="17373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3D4466"/>
                </a:solidFill>
              </a:rPr>
              <a:t>Highly available PostgreSQL</a:t>
            </a:r>
            <a:endParaRPr lang="en-US" sz="1400" dirty="0"/>
          </a:p>
          <a:p>
            <a:pPr marL="342900" indent="-342900">
              <a:spcAft>
                <a:spcPts val="800"/>
              </a:spcAft>
              <a:buSzPct val="100000"/>
              <a:buChar char="•"/>
            </a:pPr>
            <a:r>
              <a:rPr lang="en-US" sz="1400" dirty="0">
                <a:solidFill>
                  <a:srgbClr val="3D4466"/>
                </a:solidFill>
              </a:rPr>
              <a:t>Point-in-time recovery backups</a:t>
            </a:r>
            <a:endParaRPr lang="en-US" sz="1400" dirty="0"/>
          </a:p>
          <a:p>
            <a:pPr marL="342900" indent="-342900">
              <a:spcAft>
                <a:spcPts val="800"/>
              </a:spcAft>
              <a:buSzPct val="100000"/>
              <a:buChar char="•"/>
            </a:pPr>
            <a:r>
              <a:rPr lang="en-US" sz="1400" dirty="0">
                <a:solidFill>
                  <a:srgbClr val="3D4466"/>
                </a:solidFill>
              </a:rPr>
              <a:t>Rehearsed restore drill</a:t>
            </a:r>
            <a:endParaRPr lang="en-US" sz="1400" dirty="0"/>
          </a:p>
        </p:txBody>
      </p:sp>
      <p:sp>
        <p:nvSpPr>
          <p:cNvPr id="18" name="Text 13"/>
          <p:cNvSpPr txBox="1"/>
          <p:nvPr/>
        </p:nvSpPr>
        <p:spPr>
          <a:xfrm>
            <a:off x="457200" y="4160520"/>
            <a:ext cx="8229600" cy="320040"/>
          </a:xfrm>
          <a:prstGeom prst="rect">
            <a:avLst/>
          </a:prstGeom>
          <a:noFill/>
          <a:ln/>
        </p:spPr>
        <p:txBody>
          <a:bodyPr wrap="square" lIns="0" tIns="0" rIns="0" bIns="0" rtlCol="0" anchor="t"/>
          <a:lstStyle/>
          <a:p>
            <a:pPr algn="ctr" indent="0" marL="0">
              <a:buNone/>
            </a:pPr>
            <a:r>
              <a:rPr lang="en-US" sz="1400" b="1" dirty="0">
                <a:solidFill>
                  <a:schemeClr val="accent3"/>
                </a:solidFill>
              </a:rPr>
              <a:t>Java 21  ·  Spring Boot 3.5  ·  PostgreSQL  ·  Apache Pulsar  ·  Redis  ·  React</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B739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640080"/>
          </a:xfrm>
          <a:prstGeom prst="rect">
            <a:avLst/>
          </a:prstGeom>
          <a:noFill/>
          <a:ln/>
        </p:spPr>
        <p:txBody>
          <a:bodyPr wrap="square" lIns="0" tIns="0" rIns="0" bIns="0" rtlCol="0" anchor="ctr"/>
          <a:lstStyle/>
          <a:p>
            <a:pPr indent="0" marL="0">
              <a:buNone/>
            </a:pPr>
            <a:r>
              <a:rPr lang="en-US" sz="3200" b="1" dirty="0">
                <a:solidFill>
                  <a:schemeClr val="tx1"/>
                </a:solidFill>
              </a:rPr>
              <a:t>A joy for developers</a:t>
            </a:r>
            <a:endParaRPr lang="en-US" sz="3200" dirty="0"/>
          </a:p>
        </p:txBody>
      </p:sp>
      <p:sp>
        <p:nvSpPr>
          <p:cNvPr id="3" name="Client console card"/>
          <p:cNvSpPr/>
          <p:nvPr/>
        </p:nvSpPr>
        <p:spPr>
          <a:xfrm>
            <a:off x="457200" y="1188720"/>
            <a:ext cx="4023360" cy="960120"/>
          </a:xfrm>
          <a:prstGeom prst="roundRect">
            <a:avLst>
              <a:gd name="adj" fmla="val 11429"/>
            </a:avLst>
          </a:prstGeom>
          <a:solidFill>
            <a:schemeClr val="bg2"/>
          </a:solidFill>
          <a:ln w="12700">
            <a:solidFill>
              <a:schemeClr val="bg2"/>
            </a:solidFill>
            <a:prstDash val="solid"/>
          </a:ln>
          <a:effectLst>
            <a:outerShdw sx="100000" sy="100000" kx="0" ky="0" algn="bl" rotWithShape="0" blurRad="76200" dist="25400" dir="5400000">
              <a:srgbClr val="161A36">
                <a:alpha val="10000"/>
              </a:srgbClr>
            </a:outerShdw>
          </a:effectLst>
        </p:spPr>
      </p:sp>
      <p:sp>
        <p:nvSpPr>
          <p:cNvPr id="4" name="Client console circle"/>
          <p:cNvSpPr/>
          <p:nvPr/>
        </p:nvSpPr>
        <p:spPr>
          <a:xfrm>
            <a:off x="640080" y="1371600"/>
            <a:ext cx="594360" cy="594360"/>
          </a:xfrm>
          <a:prstGeom prst="ellipse">
            <a:avLst/>
          </a:prstGeom>
          <a:solidFill>
            <a:schemeClr val="accent1"/>
          </a:solidFill>
          <a:ln w="12700">
            <a:solidFill>
              <a:schemeClr val="accent1"/>
            </a:solidFill>
            <a:prstDash val="solid"/>
          </a:ln>
        </p:spPr>
      </p:sp>
      <p:pic>
        <p:nvPicPr>
          <p:cNvPr id="5" name="Client console icon" descr="Client console">    </p:cNvPr>
          <p:cNvPicPr>
            <a:picLocks noChangeAspect="1"/>
          </p:cNvPicPr>
          <p:nvPr/>
        </p:nvPicPr>
        <p:blipFill>
          <a:blip r:embed="rId1"/>
          <a:stretch>
            <a:fillRect/>
          </a:stretch>
        </p:blipFill>
        <p:spPr>
          <a:xfrm>
            <a:off x="788670" y="1520190"/>
            <a:ext cx="297180" cy="297180"/>
          </a:xfrm>
          <a:prstGeom prst="rect">
            <a:avLst/>
          </a:prstGeom>
        </p:spPr>
      </p:pic>
      <p:sp>
        <p:nvSpPr>
          <p:cNvPr id="6" name="Text 3"/>
          <p:cNvSpPr txBox="1"/>
          <p:nvPr/>
        </p:nvSpPr>
        <p:spPr>
          <a:xfrm>
            <a:off x="1417320" y="1344168"/>
            <a:ext cx="2926080" cy="329184"/>
          </a:xfrm>
          <a:prstGeom prst="rect">
            <a:avLst/>
          </a:prstGeom>
          <a:noFill/>
          <a:ln/>
        </p:spPr>
        <p:txBody>
          <a:bodyPr wrap="square" lIns="0" tIns="0" rIns="0" bIns="0" rtlCol="0" anchor="t"/>
          <a:lstStyle/>
          <a:p>
            <a:pPr indent="0" marL="0">
              <a:buNone/>
            </a:pPr>
            <a:r>
              <a:rPr lang="en-US" sz="1600" b="1" dirty="0">
                <a:solidFill>
                  <a:schemeClr val="tx1"/>
                </a:solidFill>
              </a:rPr>
              <a:t>Client console</a:t>
            </a:r>
            <a:endParaRPr lang="en-US" sz="1600" dirty="0"/>
          </a:p>
        </p:txBody>
      </p:sp>
      <p:sp>
        <p:nvSpPr>
          <p:cNvPr id="7" name="Text 4"/>
          <p:cNvSpPr txBox="1"/>
          <p:nvPr/>
        </p:nvSpPr>
        <p:spPr>
          <a:xfrm>
            <a:off x="1417320" y="1691640"/>
            <a:ext cx="2926080" cy="320040"/>
          </a:xfrm>
          <a:prstGeom prst="rect">
            <a:avLst/>
          </a:prstGeom>
          <a:noFill/>
          <a:ln/>
        </p:spPr>
        <p:txBody>
          <a:bodyPr wrap="square" lIns="0" tIns="0" rIns="0" bIns="0" rtlCol="0" anchor="t"/>
          <a:lstStyle/>
          <a:p>
            <a:pPr indent="0" marL="0">
              <a:buNone/>
            </a:pPr>
            <a:r>
              <a:rPr lang="en-US" sz="1300" dirty="0">
                <a:solidFill>
                  <a:srgbClr val="3D4466"/>
                </a:solidFill>
              </a:rPr>
              <a:t>Track every request and message live</a:t>
            </a:r>
            <a:endParaRPr lang="en-US" sz="1300" dirty="0"/>
          </a:p>
        </p:txBody>
      </p:sp>
      <p:sp>
        <p:nvSpPr>
          <p:cNvPr id="8" name="API playground card"/>
          <p:cNvSpPr/>
          <p:nvPr/>
        </p:nvSpPr>
        <p:spPr>
          <a:xfrm>
            <a:off x="4663440" y="1188720"/>
            <a:ext cx="4023360" cy="960120"/>
          </a:xfrm>
          <a:prstGeom prst="roundRect">
            <a:avLst>
              <a:gd name="adj" fmla="val 11429"/>
            </a:avLst>
          </a:prstGeom>
          <a:solidFill>
            <a:schemeClr val="bg2"/>
          </a:solidFill>
          <a:ln w="12700">
            <a:solidFill>
              <a:schemeClr val="bg2"/>
            </a:solidFill>
            <a:prstDash val="solid"/>
          </a:ln>
          <a:effectLst>
            <a:outerShdw sx="100000" sy="100000" kx="0" ky="0" algn="bl" rotWithShape="0" blurRad="76200" dist="25400" dir="5400000">
              <a:srgbClr val="161A36">
                <a:alpha val="10000"/>
              </a:srgbClr>
            </a:outerShdw>
          </a:effectLst>
        </p:spPr>
      </p:sp>
      <p:sp>
        <p:nvSpPr>
          <p:cNvPr id="9" name="API playground circle"/>
          <p:cNvSpPr/>
          <p:nvPr/>
        </p:nvSpPr>
        <p:spPr>
          <a:xfrm>
            <a:off x="4846320" y="1371600"/>
            <a:ext cx="594360" cy="594360"/>
          </a:xfrm>
          <a:prstGeom prst="ellipse">
            <a:avLst/>
          </a:prstGeom>
          <a:solidFill>
            <a:schemeClr val="accent3"/>
          </a:solidFill>
          <a:ln w="12700">
            <a:solidFill>
              <a:schemeClr val="accent3"/>
            </a:solidFill>
            <a:prstDash val="solid"/>
          </a:ln>
        </p:spPr>
      </p:sp>
      <p:pic>
        <p:nvPicPr>
          <p:cNvPr id="10" name="API playground icon" descr="API playground">    </p:cNvPr>
          <p:cNvPicPr>
            <a:picLocks noChangeAspect="1"/>
          </p:cNvPicPr>
          <p:nvPr/>
        </p:nvPicPr>
        <p:blipFill>
          <a:blip r:embed="rId2"/>
          <a:stretch>
            <a:fillRect/>
          </a:stretch>
        </p:blipFill>
        <p:spPr>
          <a:xfrm>
            <a:off x="4994910" y="1520190"/>
            <a:ext cx="297180" cy="297180"/>
          </a:xfrm>
          <a:prstGeom prst="rect">
            <a:avLst/>
          </a:prstGeom>
        </p:spPr>
      </p:pic>
      <p:sp>
        <p:nvSpPr>
          <p:cNvPr id="11" name="Text 7"/>
          <p:cNvSpPr txBox="1"/>
          <p:nvPr/>
        </p:nvSpPr>
        <p:spPr>
          <a:xfrm>
            <a:off x="5623560" y="1344168"/>
            <a:ext cx="2926080" cy="329184"/>
          </a:xfrm>
          <a:prstGeom prst="rect">
            <a:avLst/>
          </a:prstGeom>
          <a:noFill/>
          <a:ln/>
        </p:spPr>
        <p:txBody>
          <a:bodyPr wrap="square" lIns="0" tIns="0" rIns="0" bIns="0" rtlCol="0" anchor="t"/>
          <a:lstStyle/>
          <a:p>
            <a:pPr indent="0" marL="0">
              <a:buNone/>
            </a:pPr>
            <a:r>
              <a:rPr lang="en-US" sz="1600" b="1" dirty="0">
                <a:solidFill>
                  <a:schemeClr val="tx1"/>
                </a:solidFill>
              </a:rPr>
              <a:t>API playground</a:t>
            </a:r>
            <a:endParaRPr lang="en-US" sz="1600" dirty="0"/>
          </a:p>
        </p:txBody>
      </p:sp>
      <p:sp>
        <p:nvSpPr>
          <p:cNvPr id="12" name="Text 8"/>
          <p:cNvSpPr txBox="1"/>
          <p:nvPr/>
        </p:nvSpPr>
        <p:spPr>
          <a:xfrm>
            <a:off x="5623560" y="1691640"/>
            <a:ext cx="2926080" cy="320040"/>
          </a:xfrm>
          <a:prstGeom prst="rect">
            <a:avLst/>
          </a:prstGeom>
          <a:noFill/>
          <a:ln/>
        </p:spPr>
        <p:txBody>
          <a:bodyPr wrap="square" lIns="0" tIns="0" rIns="0" bIns="0" rtlCol="0" anchor="t"/>
          <a:lstStyle/>
          <a:p>
            <a:pPr indent="0" marL="0">
              <a:buNone/>
            </a:pPr>
            <a:r>
              <a:rPr lang="en-US" sz="1300" dirty="0">
                <a:solidFill>
                  <a:srgbClr val="3D4466"/>
                </a:solidFill>
              </a:rPr>
              <a:t>Try any call in the browser, copy as curl</a:t>
            </a:r>
            <a:endParaRPr lang="en-US" sz="1300" dirty="0"/>
          </a:p>
        </p:txBody>
      </p:sp>
      <p:sp>
        <p:nvSpPr>
          <p:cNvPr id="13" name="OpenAPI reference card"/>
          <p:cNvSpPr/>
          <p:nvPr/>
        </p:nvSpPr>
        <p:spPr>
          <a:xfrm>
            <a:off x="457200" y="2286000"/>
            <a:ext cx="4023360" cy="960120"/>
          </a:xfrm>
          <a:prstGeom prst="roundRect">
            <a:avLst>
              <a:gd name="adj" fmla="val 11429"/>
            </a:avLst>
          </a:prstGeom>
          <a:solidFill>
            <a:schemeClr val="bg2"/>
          </a:solidFill>
          <a:ln w="12700">
            <a:solidFill>
              <a:schemeClr val="bg2"/>
            </a:solidFill>
            <a:prstDash val="solid"/>
          </a:ln>
          <a:effectLst>
            <a:outerShdw sx="100000" sy="100000" kx="0" ky="0" algn="bl" rotWithShape="0" blurRad="76200" dist="25400" dir="5400000">
              <a:srgbClr val="161A36">
                <a:alpha val="10000"/>
              </a:srgbClr>
            </a:outerShdw>
          </a:effectLst>
        </p:spPr>
      </p:sp>
      <p:sp>
        <p:nvSpPr>
          <p:cNvPr id="14" name="OpenAPI reference circle"/>
          <p:cNvSpPr/>
          <p:nvPr/>
        </p:nvSpPr>
        <p:spPr>
          <a:xfrm>
            <a:off x="640080" y="2468880"/>
            <a:ext cx="594360" cy="594360"/>
          </a:xfrm>
          <a:prstGeom prst="ellipse">
            <a:avLst/>
          </a:prstGeom>
          <a:solidFill>
            <a:schemeClr val="accent4"/>
          </a:solidFill>
          <a:ln w="12700">
            <a:solidFill>
              <a:schemeClr val="accent4"/>
            </a:solidFill>
            <a:prstDash val="solid"/>
          </a:ln>
        </p:spPr>
      </p:sp>
      <p:pic>
        <p:nvPicPr>
          <p:cNvPr id="15" name="OpenAPI reference icon" descr="OpenAPI reference">    </p:cNvPr>
          <p:cNvPicPr>
            <a:picLocks noChangeAspect="1"/>
          </p:cNvPicPr>
          <p:nvPr/>
        </p:nvPicPr>
        <p:blipFill>
          <a:blip r:embed="rId3"/>
          <a:stretch>
            <a:fillRect/>
          </a:stretch>
        </p:blipFill>
        <p:spPr>
          <a:xfrm>
            <a:off x="788670" y="2617470"/>
            <a:ext cx="297180" cy="297180"/>
          </a:xfrm>
          <a:prstGeom prst="rect">
            <a:avLst/>
          </a:prstGeom>
        </p:spPr>
      </p:pic>
      <p:sp>
        <p:nvSpPr>
          <p:cNvPr id="16" name="Text 11"/>
          <p:cNvSpPr txBox="1"/>
          <p:nvPr/>
        </p:nvSpPr>
        <p:spPr>
          <a:xfrm>
            <a:off x="1417320" y="2441448"/>
            <a:ext cx="2926080" cy="329184"/>
          </a:xfrm>
          <a:prstGeom prst="rect">
            <a:avLst/>
          </a:prstGeom>
          <a:noFill/>
          <a:ln/>
        </p:spPr>
        <p:txBody>
          <a:bodyPr wrap="square" lIns="0" tIns="0" rIns="0" bIns="0" rtlCol="0" anchor="t"/>
          <a:lstStyle/>
          <a:p>
            <a:pPr indent="0" marL="0">
              <a:buNone/>
            </a:pPr>
            <a:r>
              <a:rPr lang="en-US" sz="1600" b="1" dirty="0">
                <a:solidFill>
                  <a:schemeClr val="tx1"/>
                </a:solidFill>
              </a:rPr>
              <a:t>OpenAPI reference</a:t>
            </a:r>
            <a:endParaRPr lang="en-US" sz="1600" dirty="0"/>
          </a:p>
        </p:txBody>
      </p:sp>
      <p:sp>
        <p:nvSpPr>
          <p:cNvPr id="17" name="Text 12"/>
          <p:cNvSpPr txBox="1"/>
          <p:nvPr/>
        </p:nvSpPr>
        <p:spPr>
          <a:xfrm>
            <a:off x="1417320" y="2788920"/>
            <a:ext cx="2926080" cy="320040"/>
          </a:xfrm>
          <a:prstGeom prst="rect">
            <a:avLst/>
          </a:prstGeom>
          <a:noFill/>
          <a:ln/>
        </p:spPr>
        <p:txBody>
          <a:bodyPr wrap="square" lIns="0" tIns="0" rIns="0" bIns="0" rtlCol="0" anchor="t"/>
          <a:lstStyle/>
          <a:p>
            <a:pPr indent="0" marL="0">
              <a:buNone/>
            </a:pPr>
            <a:r>
              <a:rPr lang="en-US" sz="1300" dirty="0">
                <a:solidFill>
                  <a:srgbClr val="3D4466"/>
                </a:solidFill>
              </a:rPr>
              <a:t>Interactive docs at /swagger-ui.html</a:t>
            </a:r>
            <a:endParaRPr lang="en-US" sz="1300" dirty="0"/>
          </a:p>
        </p:txBody>
      </p:sp>
      <p:sp>
        <p:nvSpPr>
          <p:cNvPr id="18" name="Postman collection card"/>
          <p:cNvSpPr/>
          <p:nvPr/>
        </p:nvSpPr>
        <p:spPr>
          <a:xfrm>
            <a:off x="4663440" y="2286000"/>
            <a:ext cx="4023360" cy="960120"/>
          </a:xfrm>
          <a:prstGeom prst="roundRect">
            <a:avLst>
              <a:gd name="adj" fmla="val 11429"/>
            </a:avLst>
          </a:prstGeom>
          <a:solidFill>
            <a:schemeClr val="bg2"/>
          </a:solidFill>
          <a:ln w="12700">
            <a:solidFill>
              <a:schemeClr val="bg2"/>
            </a:solidFill>
            <a:prstDash val="solid"/>
          </a:ln>
          <a:effectLst>
            <a:outerShdw sx="100000" sy="100000" kx="0" ky="0" algn="bl" rotWithShape="0" blurRad="76200" dist="25400" dir="5400000">
              <a:srgbClr val="161A36">
                <a:alpha val="10000"/>
              </a:srgbClr>
            </a:outerShdw>
          </a:effectLst>
        </p:spPr>
      </p:sp>
      <p:sp>
        <p:nvSpPr>
          <p:cNvPr id="19" name="Postman collection circle"/>
          <p:cNvSpPr/>
          <p:nvPr/>
        </p:nvSpPr>
        <p:spPr>
          <a:xfrm>
            <a:off x="4846320" y="2468880"/>
            <a:ext cx="594360" cy="594360"/>
          </a:xfrm>
          <a:prstGeom prst="ellipse">
            <a:avLst/>
          </a:prstGeom>
          <a:solidFill>
            <a:schemeClr val="accent2"/>
          </a:solidFill>
          <a:ln w="12700">
            <a:solidFill>
              <a:schemeClr val="accent2"/>
            </a:solidFill>
            <a:prstDash val="solid"/>
          </a:ln>
        </p:spPr>
      </p:sp>
      <p:pic>
        <p:nvPicPr>
          <p:cNvPr id="20" name="Postman collection icon" descr="Postman collection">    </p:cNvPr>
          <p:cNvPicPr>
            <a:picLocks noChangeAspect="1"/>
          </p:cNvPicPr>
          <p:nvPr/>
        </p:nvPicPr>
        <p:blipFill>
          <a:blip r:embed="rId4"/>
          <a:stretch>
            <a:fillRect/>
          </a:stretch>
        </p:blipFill>
        <p:spPr>
          <a:xfrm>
            <a:off x="4994910" y="2617470"/>
            <a:ext cx="297180" cy="297180"/>
          </a:xfrm>
          <a:prstGeom prst="rect">
            <a:avLst/>
          </a:prstGeom>
        </p:spPr>
      </p:pic>
      <p:sp>
        <p:nvSpPr>
          <p:cNvPr id="21" name="Text 15"/>
          <p:cNvSpPr txBox="1"/>
          <p:nvPr/>
        </p:nvSpPr>
        <p:spPr>
          <a:xfrm>
            <a:off x="5623560" y="2441448"/>
            <a:ext cx="2926080" cy="329184"/>
          </a:xfrm>
          <a:prstGeom prst="rect">
            <a:avLst/>
          </a:prstGeom>
          <a:noFill/>
          <a:ln/>
        </p:spPr>
        <p:txBody>
          <a:bodyPr wrap="square" lIns="0" tIns="0" rIns="0" bIns="0" rtlCol="0" anchor="t"/>
          <a:lstStyle/>
          <a:p>
            <a:pPr indent="0" marL="0">
              <a:buNone/>
            </a:pPr>
            <a:r>
              <a:rPr lang="en-US" sz="1600" b="1" dirty="0">
                <a:solidFill>
                  <a:schemeClr val="tx1"/>
                </a:solidFill>
              </a:rPr>
              <a:t>Postman collection</a:t>
            </a:r>
            <a:endParaRPr lang="en-US" sz="1600" dirty="0"/>
          </a:p>
        </p:txBody>
      </p:sp>
      <p:sp>
        <p:nvSpPr>
          <p:cNvPr id="22" name="Text 16"/>
          <p:cNvSpPr txBox="1"/>
          <p:nvPr/>
        </p:nvSpPr>
        <p:spPr>
          <a:xfrm>
            <a:off x="5623560" y="2788920"/>
            <a:ext cx="2926080" cy="320040"/>
          </a:xfrm>
          <a:prstGeom prst="rect">
            <a:avLst/>
          </a:prstGeom>
          <a:noFill/>
          <a:ln/>
        </p:spPr>
        <p:txBody>
          <a:bodyPr wrap="square" lIns="0" tIns="0" rIns="0" bIns="0" rtlCol="0" anchor="t"/>
          <a:lstStyle/>
          <a:p>
            <a:pPr indent="0" marL="0">
              <a:buNone/>
            </a:pPr>
            <a:r>
              <a:rPr lang="en-US" sz="1300" dirty="0">
                <a:solidFill>
                  <a:srgbClr val="3D4466"/>
                </a:solidFill>
              </a:rPr>
              <a:t>51 tested requests across the whole API</a:t>
            </a:r>
            <a:endParaRPr lang="en-US" sz="1300" dirty="0"/>
          </a:p>
        </p:txBody>
      </p:sp>
      <p:sp>
        <p:nvSpPr>
          <p:cNvPr id="23" name="Stable error codes card"/>
          <p:cNvSpPr/>
          <p:nvPr/>
        </p:nvSpPr>
        <p:spPr>
          <a:xfrm>
            <a:off x="457200" y="3383280"/>
            <a:ext cx="4023360" cy="960120"/>
          </a:xfrm>
          <a:prstGeom prst="roundRect">
            <a:avLst>
              <a:gd name="adj" fmla="val 11429"/>
            </a:avLst>
          </a:prstGeom>
          <a:solidFill>
            <a:schemeClr val="bg2"/>
          </a:solidFill>
          <a:ln w="12700">
            <a:solidFill>
              <a:schemeClr val="bg2"/>
            </a:solidFill>
            <a:prstDash val="solid"/>
          </a:ln>
          <a:effectLst>
            <a:outerShdw sx="100000" sy="100000" kx="0" ky="0" algn="bl" rotWithShape="0" blurRad="76200" dist="25400" dir="5400000">
              <a:srgbClr val="161A36">
                <a:alpha val="10000"/>
              </a:srgbClr>
            </a:outerShdw>
          </a:effectLst>
        </p:spPr>
      </p:sp>
      <p:sp>
        <p:nvSpPr>
          <p:cNvPr id="24" name="Stable error codes circle"/>
          <p:cNvSpPr/>
          <p:nvPr/>
        </p:nvSpPr>
        <p:spPr>
          <a:xfrm>
            <a:off x="640080" y="3566160"/>
            <a:ext cx="594360" cy="594360"/>
          </a:xfrm>
          <a:prstGeom prst="ellipse">
            <a:avLst/>
          </a:prstGeom>
          <a:solidFill>
            <a:schemeClr val="accent6"/>
          </a:solidFill>
          <a:ln w="12700">
            <a:solidFill>
              <a:schemeClr val="accent6"/>
            </a:solidFill>
            <a:prstDash val="solid"/>
          </a:ln>
        </p:spPr>
      </p:sp>
      <p:pic>
        <p:nvPicPr>
          <p:cNvPr id="25" name="Stable error codes icon" descr="Stable error codes">    </p:cNvPr>
          <p:cNvPicPr>
            <a:picLocks noChangeAspect="1"/>
          </p:cNvPicPr>
          <p:nvPr/>
        </p:nvPicPr>
        <p:blipFill>
          <a:blip r:embed="rId5"/>
          <a:stretch>
            <a:fillRect/>
          </a:stretch>
        </p:blipFill>
        <p:spPr>
          <a:xfrm>
            <a:off x="788670" y="3714750"/>
            <a:ext cx="297180" cy="297180"/>
          </a:xfrm>
          <a:prstGeom prst="rect">
            <a:avLst/>
          </a:prstGeom>
        </p:spPr>
      </p:pic>
      <p:sp>
        <p:nvSpPr>
          <p:cNvPr id="26" name="Text 19"/>
          <p:cNvSpPr txBox="1"/>
          <p:nvPr/>
        </p:nvSpPr>
        <p:spPr>
          <a:xfrm>
            <a:off x="1417320" y="3538728"/>
            <a:ext cx="2926080" cy="329184"/>
          </a:xfrm>
          <a:prstGeom prst="rect">
            <a:avLst/>
          </a:prstGeom>
          <a:noFill/>
          <a:ln/>
        </p:spPr>
        <p:txBody>
          <a:bodyPr wrap="square" lIns="0" tIns="0" rIns="0" bIns="0" rtlCol="0" anchor="t"/>
          <a:lstStyle/>
          <a:p>
            <a:pPr indent="0" marL="0">
              <a:buNone/>
            </a:pPr>
            <a:r>
              <a:rPr lang="en-US" sz="1600" b="1" dirty="0">
                <a:solidFill>
                  <a:schemeClr val="tx1"/>
                </a:solidFill>
              </a:rPr>
              <a:t>Stable error codes</a:t>
            </a:r>
            <a:endParaRPr lang="en-US" sz="1600" dirty="0"/>
          </a:p>
        </p:txBody>
      </p:sp>
      <p:sp>
        <p:nvSpPr>
          <p:cNvPr id="27" name="Text 20"/>
          <p:cNvSpPr txBox="1"/>
          <p:nvPr/>
        </p:nvSpPr>
        <p:spPr>
          <a:xfrm>
            <a:off x="1417320" y="3886200"/>
            <a:ext cx="2926080" cy="320040"/>
          </a:xfrm>
          <a:prstGeom prst="rect">
            <a:avLst/>
          </a:prstGeom>
          <a:noFill/>
          <a:ln/>
        </p:spPr>
        <p:txBody>
          <a:bodyPr wrap="square" lIns="0" tIns="0" rIns="0" bIns="0" rtlCol="0" anchor="t"/>
          <a:lstStyle/>
          <a:p>
            <a:pPr indent="0" marL="0">
              <a:buNone/>
            </a:pPr>
            <a:r>
              <a:rPr lang="en-US" sz="1300" dirty="0">
                <a:solidFill>
                  <a:srgbClr val="3D4466"/>
                </a:solidFill>
              </a:rPr>
              <a:t>A dictionary with causes and fixes</a:t>
            </a:r>
            <a:endParaRPr lang="en-US" sz="1300" dirty="0"/>
          </a:p>
        </p:txBody>
      </p:sp>
      <p:sp>
        <p:nvSpPr>
          <p:cNvPr id="28" name="Clear guides card"/>
          <p:cNvSpPr/>
          <p:nvPr/>
        </p:nvSpPr>
        <p:spPr>
          <a:xfrm>
            <a:off x="4663440" y="3383280"/>
            <a:ext cx="4023360" cy="960120"/>
          </a:xfrm>
          <a:prstGeom prst="roundRect">
            <a:avLst>
              <a:gd name="adj" fmla="val 11429"/>
            </a:avLst>
          </a:prstGeom>
          <a:solidFill>
            <a:schemeClr val="bg2"/>
          </a:solidFill>
          <a:ln w="12700">
            <a:solidFill>
              <a:schemeClr val="bg2"/>
            </a:solidFill>
            <a:prstDash val="solid"/>
          </a:ln>
          <a:effectLst>
            <a:outerShdw sx="100000" sy="100000" kx="0" ky="0" algn="bl" rotWithShape="0" blurRad="76200" dist="25400" dir="5400000">
              <a:srgbClr val="161A36">
                <a:alpha val="10000"/>
              </a:srgbClr>
            </a:outerShdw>
          </a:effectLst>
        </p:spPr>
      </p:sp>
      <p:sp>
        <p:nvSpPr>
          <p:cNvPr id="29" name="Clear guides circle"/>
          <p:cNvSpPr/>
          <p:nvPr/>
        </p:nvSpPr>
        <p:spPr>
          <a:xfrm>
            <a:off x="4846320" y="3566160"/>
            <a:ext cx="594360" cy="594360"/>
          </a:xfrm>
          <a:prstGeom prst="ellipse">
            <a:avLst/>
          </a:prstGeom>
          <a:solidFill>
            <a:schemeClr val="accent5"/>
          </a:solidFill>
          <a:ln w="12700">
            <a:solidFill>
              <a:schemeClr val="accent5"/>
            </a:solidFill>
            <a:prstDash val="solid"/>
          </a:ln>
        </p:spPr>
      </p:sp>
      <p:pic>
        <p:nvPicPr>
          <p:cNvPr id="30" name="Clear guides icon" descr="Clear guides">    </p:cNvPr>
          <p:cNvPicPr>
            <a:picLocks noChangeAspect="1"/>
          </p:cNvPicPr>
          <p:nvPr/>
        </p:nvPicPr>
        <p:blipFill>
          <a:blip r:embed="rId6"/>
          <a:stretch>
            <a:fillRect/>
          </a:stretch>
        </p:blipFill>
        <p:spPr>
          <a:xfrm>
            <a:off x="4994910" y="3714750"/>
            <a:ext cx="297180" cy="297180"/>
          </a:xfrm>
          <a:prstGeom prst="rect">
            <a:avLst/>
          </a:prstGeom>
        </p:spPr>
      </p:pic>
      <p:sp>
        <p:nvSpPr>
          <p:cNvPr id="31" name="Text 23"/>
          <p:cNvSpPr txBox="1"/>
          <p:nvPr/>
        </p:nvSpPr>
        <p:spPr>
          <a:xfrm>
            <a:off x="5623560" y="3538728"/>
            <a:ext cx="2926080" cy="329184"/>
          </a:xfrm>
          <a:prstGeom prst="rect">
            <a:avLst/>
          </a:prstGeom>
          <a:noFill/>
          <a:ln/>
        </p:spPr>
        <p:txBody>
          <a:bodyPr wrap="square" lIns="0" tIns="0" rIns="0" bIns="0" rtlCol="0" anchor="t"/>
          <a:lstStyle/>
          <a:p>
            <a:pPr indent="0" marL="0">
              <a:buNone/>
            </a:pPr>
            <a:r>
              <a:rPr lang="en-US" sz="1600" b="1" dirty="0">
                <a:solidFill>
                  <a:schemeClr val="tx1"/>
                </a:solidFill>
              </a:rPr>
              <a:t>Clear guides</a:t>
            </a:r>
            <a:endParaRPr lang="en-US" sz="1600" dirty="0"/>
          </a:p>
        </p:txBody>
      </p:sp>
      <p:sp>
        <p:nvSpPr>
          <p:cNvPr id="32" name="Text 24"/>
          <p:cNvSpPr txBox="1"/>
          <p:nvPr/>
        </p:nvSpPr>
        <p:spPr>
          <a:xfrm>
            <a:off x="5623560" y="3886200"/>
            <a:ext cx="2926080" cy="320040"/>
          </a:xfrm>
          <a:prstGeom prst="rect">
            <a:avLst/>
          </a:prstGeom>
          <a:noFill/>
          <a:ln/>
        </p:spPr>
        <p:txBody>
          <a:bodyPr wrap="square" lIns="0" tIns="0" rIns="0" bIns="0" rtlCol="0" anchor="t"/>
          <a:lstStyle/>
          <a:p>
            <a:pPr indent="0" marL="0">
              <a:buNone/>
            </a:pPr>
            <a:r>
              <a:rPr lang="en-US" sz="1300" dirty="0">
                <a:solidFill>
                  <a:srgbClr val="3D4466"/>
                </a:solidFill>
              </a:rPr>
              <a:t>Onboarding runbook and client guide</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B739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640080"/>
          </a:xfrm>
          <a:prstGeom prst="rect">
            <a:avLst/>
          </a:prstGeom>
          <a:noFill/>
          <a:ln/>
        </p:spPr>
        <p:txBody>
          <a:bodyPr wrap="square" lIns="0" tIns="0" rIns="0" bIns="0" rtlCol="0" anchor="ctr"/>
          <a:lstStyle/>
          <a:p>
            <a:pPr indent="0" marL="0">
              <a:buNone/>
            </a:pPr>
            <a:r>
              <a:rPr lang="en-US" sz="3200" b="1" dirty="0">
                <a:solidFill>
                  <a:schemeClr val="tx1"/>
                </a:solidFill>
              </a:rPr>
              <a:t>Up and running in minutes</a:t>
            </a:r>
            <a:endParaRPr lang="en-US" sz="3200" dirty="0"/>
          </a:p>
        </p:txBody>
      </p:sp>
      <p:sp>
        <p:nvSpPr>
          <p:cNvPr id="3" name="step 1"/>
          <p:cNvSpPr/>
          <p:nvPr/>
        </p:nvSpPr>
        <p:spPr>
          <a:xfrm>
            <a:off x="457200" y="1234440"/>
            <a:ext cx="685800" cy="685800"/>
          </a:xfrm>
          <a:prstGeom prst="ellipse">
            <a:avLst/>
          </a:prstGeom>
          <a:solidFill>
            <a:schemeClr val="accent1"/>
          </a:solidFill>
          <a:ln w="12700">
            <a:solidFill>
              <a:schemeClr val="accent1"/>
            </a:solidFill>
            <a:prstDash val="solid"/>
          </a:ln>
        </p:spPr>
      </p:sp>
      <p:sp>
        <p:nvSpPr>
          <p:cNvPr id="4" name="Text 2"/>
          <p:cNvSpPr txBox="1"/>
          <p:nvPr/>
        </p:nvSpPr>
        <p:spPr>
          <a:xfrm>
            <a:off x="457200" y="1344168"/>
            <a:ext cx="685800" cy="457200"/>
          </a:xfrm>
          <a:prstGeom prst="rect">
            <a:avLst/>
          </a:prstGeom>
          <a:noFill/>
          <a:ln/>
        </p:spPr>
        <p:txBody>
          <a:bodyPr wrap="square" lIns="0" tIns="0" rIns="0" bIns="0" rtlCol="0" anchor="ctr"/>
          <a:lstStyle/>
          <a:p>
            <a:pPr algn="ctr" indent="0" marL="0">
              <a:buNone/>
            </a:pPr>
            <a:r>
              <a:rPr lang="en-US" sz="2400" b="1" dirty="0">
                <a:solidFill>
                  <a:schemeClr val="bg1"/>
                </a:solidFill>
              </a:rPr>
              <a:t>1</a:t>
            </a:r>
            <a:endParaRPr lang="en-US" sz="2400" dirty="0"/>
          </a:p>
        </p:txBody>
      </p:sp>
      <p:sp>
        <p:nvSpPr>
          <p:cNvPr id="5" name="Text 3"/>
          <p:cNvSpPr txBox="1"/>
          <p:nvPr/>
        </p:nvSpPr>
        <p:spPr>
          <a:xfrm>
            <a:off x="1371600" y="1252728"/>
            <a:ext cx="4846320" cy="347472"/>
          </a:xfrm>
          <a:prstGeom prst="rect">
            <a:avLst/>
          </a:prstGeom>
          <a:noFill/>
          <a:ln/>
        </p:spPr>
        <p:txBody>
          <a:bodyPr wrap="square" lIns="0" tIns="0" rIns="0" bIns="0" rtlCol="0" anchor="t"/>
          <a:lstStyle/>
          <a:p>
            <a:pPr indent="0" marL="0">
              <a:buNone/>
            </a:pPr>
            <a:r>
              <a:rPr lang="en-US" sz="1700" b="1" dirty="0">
                <a:solidFill>
                  <a:schemeClr val="tx1"/>
                </a:solidFill>
              </a:rPr>
              <a:t>Start the stack</a:t>
            </a:r>
            <a:endParaRPr lang="en-US" sz="1700" dirty="0"/>
          </a:p>
        </p:txBody>
      </p:sp>
      <p:sp>
        <p:nvSpPr>
          <p:cNvPr id="6" name="command 1"/>
          <p:cNvSpPr/>
          <p:nvPr/>
        </p:nvSpPr>
        <p:spPr>
          <a:xfrm>
            <a:off x="1371600" y="1618488"/>
            <a:ext cx="4846320" cy="384048"/>
          </a:xfrm>
          <a:prstGeom prst="roundRect">
            <a:avLst>
              <a:gd name="adj" fmla="val 14286"/>
            </a:avLst>
          </a:prstGeom>
          <a:solidFill>
            <a:schemeClr val="tx1"/>
          </a:solidFill>
          <a:ln w="12700">
            <a:solidFill>
              <a:schemeClr val="tx1"/>
            </a:solidFill>
            <a:prstDash val="solid"/>
          </a:ln>
        </p:spPr>
      </p:sp>
      <p:sp>
        <p:nvSpPr>
          <p:cNvPr id="7" name="Text 5"/>
          <p:cNvSpPr txBox="1"/>
          <p:nvPr/>
        </p:nvSpPr>
        <p:spPr>
          <a:xfrm>
            <a:off x="1508760" y="1636776"/>
            <a:ext cx="4663440" cy="347472"/>
          </a:xfrm>
          <a:prstGeom prst="rect">
            <a:avLst/>
          </a:prstGeom>
          <a:noFill/>
          <a:ln/>
        </p:spPr>
        <p:txBody>
          <a:bodyPr wrap="square" lIns="0" tIns="0" rIns="0" bIns="0" rtlCol="0" anchor="ctr"/>
          <a:lstStyle/>
          <a:p>
            <a:pPr indent="0" marL="0">
              <a:buNone/>
            </a:pPr>
            <a:r>
              <a:rPr lang="en-US" sz="1300" dirty="0">
                <a:solidFill>
                  <a:srgbClr val="E2E8F0"/>
                </a:solidFill>
                <a:latin typeface="Courier New" pitchFamily="34" charset="0"/>
                <a:ea typeface="Courier New" pitchFamily="34" charset="-122"/>
                <a:cs typeface="Courier New" pitchFamily="34" charset="-120"/>
              </a:rPr>
              <a:t>docker compose --profile app up -d --build</a:t>
            </a:r>
            <a:endParaRPr lang="en-US" sz="1300" dirty="0"/>
          </a:p>
        </p:txBody>
      </p:sp>
      <p:sp>
        <p:nvSpPr>
          <p:cNvPr id="8" name="step 2"/>
          <p:cNvSpPr/>
          <p:nvPr/>
        </p:nvSpPr>
        <p:spPr>
          <a:xfrm>
            <a:off x="457200" y="2286000"/>
            <a:ext cx="685800" cy="685800"/>
          </a:xfrm>
          <a:prstGeom prst="ellipse">
            <a:avLst/>
          </a:prstGeom>
          <a:solidFill>
            <a:schemeClr val="accent3"/>
          </a:solidFill>
          <a:ln w="12700">
            <a:solidFill>
              <a:schemeClr val="accent3"/>
            </a:solidFill>
            <a:prstDash val="solid"/>
          </a:ln>
        </p:spPr>
      </p:sp>
      <p:sp>
        <p:nvSpPr>
          <p:cNvPr id="9" name="Text 7"/>
          <p:cNvSpPr txBox="1"/>
          <p:nvPr/>
        </p:nvSpPr>
        <p:spPr>
          <a:xfrm>
            <a:off x="457200" y="2395728"/>
            <a:ext cx="685800" cy="457200"/>
          </a:xfrm>
          <a:prstGeom prst="rect">
            <a:avLst/>
          </a:prstGeom>
          <a:noFill/>
          <a:ln/>
        </p:spPr>
        <p:txBody>
          <a:bodyPr wrap="square" lIns="0" tIns="0" rIns="0" bIns="0" rtlCol="0" anchor="ctr"/>
          <a:lstStyle/>
          <a:p>
            <a:pPr algn="ctr" indent="0" marL="0">
              <a:buNone/>
            </a:pPr>
            <a:r>
              <a:rPr lang="en-US" sz="2400" b="1" dirty="0">
                <a:solidFill>
                  <a:schemeClr val="bg1"/>
                </a:solidFill>
              </a:rPr>
              <a:t>2</a:t>
            </a:r>
            <a:endParaRPr lang="en-US" sz="2400" dirty="0"/>
          </a:p>
        </p:txBody>
      </p:sp>
      <p:sp>
        <p:nvSpPr>
          <p:cNvPr id="10" name="Text 8"/>
          <p:cNvSpPr txBox="1"/>
          <p:nvPr/>
        </p:nvSpPr>
        <p:spPr>
          <a:xfrm>
            <a:off x="1371600" y="2304288"/>
            <a:ext cx="4846320" cy="347472"/>
          </a:xfrm>
          <a:prstGeom prst="rect">
            <a:avLst/>
          </a:prstGeom>
          <a:noFill/>
          <a:ln/>
        </p:spPr>
        <p:txBody>
          <a:bodyPr wrap="square" lIns="0" tIns="0" rIns="0" bIns="0" rtlCol="0" anchor="t"/>
          <a:lstStyle/>
          <a:p>
            <a:pPr indent="0" marL="0">
              <a:buNone/>
            </a:pPr>
            <a:r>
              <a:rPr lang="en-US" sz="1700" b="1" dirty="0">
                <a:solidFill>
                  <a:schemeClr val="tx1"/>
                </a:solidFill>
              </a:rPr>
              <a:t>Seed demo data</a:t>
            </a:r>
            <a:endParaRPr lang="en-US" sz="1700" dirty="0"/>
          </a:p>
        </p:txBody>
      </p:sp>
      <p:sp>
        <p:nvSpPr>
          <p:cNvPr id="11" name="command 2"/>
          <p:cNvSpPr/>
          <p:nvPr/>
        </p:nvSpPr>
        <p:spPr>
          <a:xfrm>
            <a:off x="1371600" y="2670048"/>
            <a:ext cx="4846320" cy="384048"/>
          </a:xfrm>
          <a:prstGeom prst="roundRect">
            <a:avLst>
              <a:gd name="adj" fmla="val 14286"/>
            </a:avLst>
          </a:prstGeom>
          <a:solidFill>
            <a:schemeClr val="tx1"/>
          </a:solidFill>
          <a:ln w="12700">
            <a:solidFill>
              <a:schemeClr val="tx1"/>
            </a:solidFill>
            <a:prstDash val="solid"/>
          </a:ln>
        </p:spPr>
      </p:sp>
      <p:sp>
        <p:nvSpPr>
          <p:cNvPr id="12" name="Text 10"/>
          <p:cNvSpPr txBox="1"/>
          <p:nvPr/>
        </p:nvSpPr>
        <p:spPr>
          <a:xfrm>
            <a:off x="1508760" y="2688336"/>
            <a:ext cx="4663440" cy="347472"/>
          </a:xfrm>
          <a:prstGeom prst="rect">
            <a:avLst/>
          </a:prstGeom>
          <a:noFill/>
          <a:ln/>
        </p:spPr>
        <p:txBody>
          <a:bodyPr wrap="square" lIns="0" tIns="0" rIns="0" bIns="0" rtlCol="0" anchor="ctr"/>
          <a:lstStyle/>
          <a:p>
            <a:pPr indent="0" marL="0">
              <a:buNone/>
            </a:pPr>
            <a:r>
              <a:rPr lang="en-US" sz="1300" dirty="0">
                <a:solidFill>
                  <a:srgbClr val="E2E8F0"/>
                </a:solidFill>
                <a:latin typeface="Courier New" pitchFamily="34" charset="0"/>
                <a:ea typeface="Courier New" pitchFamily="34" charset="-122"/>
                <a:cs typeface="Courier New" pitchFamily="34" charset="-120"/>
              </a:rPr>
              <a:t>node scripts/seed.mjs</a:t>
            </a:r>
            <a:endParaRPr lang="en-US" sz="1300" dirty="0"/>
          </a:p>
        </p:txBody>
      </p:sp>
      <p:sp>
        <p:nvSpPr>
          <p:cNvPr id="13" name="step 3"/>
          <p:cNvSpPr/>
          <p:nvPr/>
        </p:nvSpPr>
        <p:spPr>
          <a:xfrm>
            <a:off x="457200" y="3337560"/>
            <a:ext cx="685800" cy="685800"/>
          </a:xfrm>
          <a:prstGeom prst="ellipse">
            <a:avLst/>
          </a:prstGeom>
          <a:solidFill>
            <a:schemeClr val="accent2"/>
          </a:solidFill>
          <a:ln w="12700">
            <a:solidFill>
              <a:schemeClr val="accent2"/>
            </a:solidFill>
            <a:prstDash val="solid"/>
          </a:ln>
        </p:spPr>
      </p:sp>
      <p:sp>
        <p:nvSpPr>
          <p:cNvPr id="14" name="Text 12"/>
          <p:cNvSpPr txBox="1"/>
          <p:nvPr/>
        </p:nvSpPr>
        <p:spPr>
          <a:xfrm>
            <a:off x="457200" y="3447288"/>
            <a:ext cx="685800" cy="457200"/>
          </a:xfrm>
          <a:prstGeom prst="rect">
            <a:avLst/>
          </a:prstGeom>
          <a:noFill/>
          <a:ln/>
        </p:spPr>
        <p:txBody>
          <a:bodyPr wrap="square" lIns="0" tIns="0" rIns="0" bIns="0" rtlCol="0" anchor="ctr"/>
          <a:lstStyle/>
          <a:p>
            <a:pPr algn="ctr" indent="0" marL="0">
              <a:buNone/>
            </a:pPr>
            <a:r>
              <a:rPr lang="en-US" sz="2400" b="1" dirty="0">
                <a:solidFill>
                  <a:schemeClr val="bg1"/>
                </a:solidFill>
              </a:rPr>
              <a:t>3</a:t>
            </a:r>
            <a:endParaRPr lang="en-US" sz="2400" dirty="0"/>
          </a:p>
        </p:txBody>
      </p:sp>
      <p:sp>
        <p:nvSpPr>
          <p:cNvPr id="15" name="Text 13"/>
          <p:cNvSpPr txBox="1"/>
          <p:nvPr/>
        </p:nvSpPr>
        <p:spPr>
          <a:xfrm>
            <a:off x="1371600" y="3355848"/>
            <a:ext cx="4846320" cy="347472"/>
          </a:xfrm>
          <a:prstGeom prst="rect">
            <a:avLst/>
          </a:prstGeom>
          <a:noFill/>
          <a:ln/>
        </p:spPr>
        <p:txBody>
          <a:bodyPr wrap="square" lIns="0" tIns="0" rIns="0" bIns="0" rtlCol="0" anchor="t"/>
          <a:lstStyle/>
          <a:p>
            <a:pPr indent="0" marL="0">
              <a:buNone/>
            </a:pPr>
            <a:r>
              <a:rPr lang="en-US" sz="1700" b="1" dirty="0">
                <a:solidFill>
                  <a:schemeClr val="tx1"/>
                </a:solidFill>
              </a:rPr>
              <a:t>Open the admin and client consoles</a:t>
            </a:r>
            <a:endParaRPr lang="en-US" sz="1700" dirty="0"/>
          </a:p>
        </p:txBody>
      </p:sp>
      <p:sp>
        <p:nvSpPr>
          <p:cNvPr id="16" name="command 3"/>
          <p:cNvSpPr/>
          <p:nvPr/>
        </p:nvSpPr>
        <p:spPr>
          <a:xfrm>
            <a:off x="1371600" y="3721608"/>
            <a:ext cx="4846320" cy="384048"/>
          </a:xfrm>
          <a:prstGeom prst="roundRect">
            <a:avLst>
              <a:gd name="adj" fmla="val 14286"/>
            </a:avLst>
          </a:prstGeom>
          <a:solidFill>
            <a:schemeClr val="tx1"/>
          </a:solidFill>
          <a:ln w="12700">
            <a:solidFill>
              <a:schemeClr val="tx1"/>
            </a:solidFill>
            <a:prstDash val="solid"/>
          </a:ln>
        </p:spPr>
      </p:sp>
      <p:sp>
        <p:nvSpPr>
          <p:cNvPr id="17" name="Text 15"/>
          <p:cNvSpPr txBox="1"/>
          <p:nvPr/>
        </p:nvSpPr>
        <p:spPr>
          <a:xfrm>
            <a:off x="1508760" y="3739896"/>
            <a:ext cx="4663440" cy="347472"/>
          </a:xfrm>
          <a:prstGeom prst="rect">
            <a:avLst/>
          </a:prstGeom>
          <a:noFill/>
          <a:ln/>
        </p:spPr>
        <p:txBody>
          <a:bodyPr wrap="square" lIns="0" tIns="0" rIns="0" bIns="0" rtlCol="0" anchor="ctr"/>
          <a:lstStyle/>
          <a:p>
            <a:pPr indent="0" marL="0">
              <a:buNone/>
            </a:pPr>
            <a:r>
              <a:rPr lang="en-US" sz="1300" dirty="0">
                <a:solidFill>
                  <a:srgbClr val="E2E8F0"/>
                </a:solidFill>
                <a:latin typeface="Courier New" pitchFamily="34" charset="0"/>
                <a:ea typeface="Courier New" pitchFamily="34" charset="-122"/>
                <a:cs typeface="Courier New" pitchFamily="34" charset="-120"/>
              </a:rPr>
              <a:t>localhost:5173      localhost:5174</a:t>
            </a:r>
            <a:endParaRPr lang="en-US" sz="1300" dirty="0"/>
          </a:p>
        </p:txBody>
      </p:sp>
      <p:sp>
        <p:nvSpPr>
          <p:cNvPr id="18" name="Next steps card"/>
          <p:cNvSpPr/>
          <p:nvPr/>
        </p:nvSpPr>
        <p:spPr>
          <a:xfrm>
            <a:off x="6537960" y="1234440"/>
            <a:ext cx="2148840" cy="2880360"/>
          </a:xfrm>
          <a:prstGeom prst="roundRect">
            <a:avLst>
              <a:gd name="adj" fmla="val 5106"/>
            </a:avLst>
          </a:prstGeom>
          <a:solidFill>
            <a:schemeClr val="bg2"/>
          </a:solidFill>
          <a:ln w="12700">
            <a:solidFill>
              <a:schemeClr val="bg2"/>
            </a:solidFill>
            <a:prstDash val="solid"/>
          </a:ln>
          <a:effectLst>
            <a:outerShdw sx="100000" sy="100000" kx="0" ky="0" algn="bl" rotWithShape="0" blurRad="76200" dist="25400" dir="5400000">
              <a:srgbClr val="161A36">
                <a:alpha val="10000"/>
              </a:srgbClr>
            </a:outerShdw>
          </a:effectLst>
        </p:spPr>
      </p:sp>
      <p:sp>
        <p:nvSpPr>
          <p:cNvPr id="19" name="Next steps circle"/>
          <p:cNvSpPr/>
          <p:nvPr/>
        </p:nvSpPr>
        <p:spPr>
          <a:xfrm>
            <a:off x="7269480" y="1417320"/>
            <a:ext cx="640080" cy="640080"/>
          </a:xfrm>
          <a:prstGeom prst="ellipse">
            <a:avLst/>
          </a:prstGeom>
          <a:solidFill>
            <a:schemeClr val="accent1"/>
          </a:solidFill>
          <a:ln w="12700">
            <a:solidFill>
              <a:schemeClr val="accent1"/>
            </a:solidFill>
            <a:prstDash val="solid"/>
          </a:ln>
        </p:spPr>
      </p:sp>
      <p:pic>
        <p:nvPicPr>
          <p:cNvPr id="20" name="Next steps icon" descr="Next steps">    </p:cNvPr>
          <p:cNvPicPr>
            <a:picLocks noChangeAspect="1"/>
          </p:cNvPicPr>
          <p:nvPr/>
        </p:nvPicPr>
        <p:blipFill>
          <a:blip r:embed="rId1"/>
          <a:stretch>
            <a:fillRect/>
          </a:stretch>
        </p:blipFill>
        <p:spPr>
          <a:xfrm>
            <a:off x="7429500" y="1577340"/>
            <a:ext cx="320040" cy="320040"/>
          </a:xfrm>
          <a:prstGeom prst="rect">
            <a:avLst/>
          </a:prstGeom>
        </p:spPr>
      </p:pic>
      <p:sp>
        <p:nvSpPr>
          <p:cNvPr id="21" name="Text 18"/>
          <p:cNvSpPr txBox="1"/>
          <p:nvPr/>
        </p:nvSpPr>
        <p:spPr>
          <a:xfrm>
            <a:off x="6675120" y="2148840"/>
            <a:ext cx="1874520" cy="320040"/>
          </a:xfrm>
          <a:prstGeom prst="rect">
            <a:avLst/>
          </a:prstGeom>
          <a:noFill/>
          <a:ln/>
        </p:spPr>
        <p:txBody>
          <a:bodyPr wrap="square" lIns="0" tIns="0" rIns="0" bIns="0" rtlCol="0" anchor="t"/>
          <a:lstStyle/>
          <a:p>
            <a:pPr algn="ctr" indent="0" marL="0">
              <a:buNone/>
            </a:pPr>
            <a:r>
              <a:rPr lang="en-US" sz="1500" b="1" dirty="0">
                <a:solidFill>
                  <a:schemeClr val="tx1"/>
                </a:solidFill>
              </a:rPr>
              <a:t>Then explore</a:t>
            </a:r>
            <a:endParaRPr lang="en-US" sz="1500" dirty="0"/>
          </a:p>
        </p:txBody>
      </p:sp>
      <p:sp>
        <p:nvSpPr>
          <p:cNvPr id="22" name="Text 19"/>
          <p:cNvSpPr txBox="1"/>
          <p:nvPr/>
        </p:nvSpPr>
        <p:spPr>
          <a:xfrm>
            <a:off x="6720840" y="2560320"/>
            <a:ext cx="1874520" cy="14630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3D4466"/>
                </a:solidFill>
              </a:rPr>
              <a:t>Tenant onboarding runbook</a:t>
            </a:r>
            <a:endParaRPr lang="en-US" sz="1300" dirty="0"/>
          </a:p>
          <a:p>
            <a:pPr marL="342900" indent="-342900">
              <a:spcAft>
                <a:spcPts val="600"/>
              </a:spcAft>
              <a:buSzPct val="100000"/>
              <a:buChar char="•"/>
            </a:pPr>
            <a:r>
              <a:rPr lang="en-US" sz="1300" dirty="0">
                <a:solidFill>
                  <a:srgbClr val="3D4466"/>
                </a:solidFill>
              </a:rPr>
              <a:t>Client guide</a:t>
            </a:r>
            <a:endParaRPr lang="en-US" sz="1300" dirty="0"/>
          </a:p>
          <a:p>
            <a:pPr marL="342900" indent="-342900">
              <a:spcAft>
                <a:spcPts val="600"/>
              </a:spcAft>
              <a:buSzPct val="100000"/>
              <a:buChar char="•"/>
            </a:pPr>
            <a:r>
              <a:rPr lang="en-US" sz="1300" dirty="0">
                <a:solidFill>
                  <a:srgbClr val="3D4466"/>
                </a:solidFill>
              </a:rPr>
              <a:t>Postman collection</a:t>
            </a:r>
            <a:endParaRPr lang="en-US" sz="1300" dirty="0"/>
          </a:p>
          <a:p>
            <a:pPr marL="342900" indent="-342900">
              <a:spcAft>
                <a:spcPts val="600"/>
              </a:spcAft>
              <a:buSzPct val="100000"/>
              <a:buChar char="•"/>
            </a:pPr>
            <a:r>
              <a:rPr lang="en-US" sz="1300" dirty="0">
                <a:solidFill>
                  <a:srgbClr val="3D4466"/>
                </a:solidFill>
              </a:rPr>
              <a:t>Deployment guides</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B739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457200" y="960120"/>
            <a:ext cx="54864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OPEN SOURCE  ·  APACHE 2.0</a:t>
            </a:r>
            <a:endParaRPr lang="en-US" sz="1200" dirty="0"/>
          </a:p>
        </p:txBody>
      </p:sp>
      <p:sp>
        <p:nvSpPr>
          <p:cNvPr id="3" name="Text 0"/>
          <p:cNvSpPr/>
          <p:nvPr>
            <p:ph idx="100" type="title" hasCustomPrompt="1"/>
          </p:nvPr>
        </p:nvSpPr>
        <p:spPr>
          <a:xfrm>
            <a:off x="457200" y="1417320"/>
            <a:ext cx="6035040" cy="914400"/>
          </a:xfrm>
          <a:prstGeom prst="rect">
            <a:avLst/>
          </a:prstGeom>
          <a:noFill/>
          <a:ln/>
        </p:spPr>
        <p:txBody>
          <a:bodyPr wrap="square" lIns="0" tIns="0" rIns="0" bIns="0" rtlCol="0" anchor="t"/>
          <a:lstStyle/>
          <a:p>
            <a:pPr algn="l" indent="0" marL="0">
              <a:buNone/>
            </a:pPr>
            <a:r>
              <a:rPr lang="en-US" sz="4400" b="1" dirty="0">
                <a:solidFill>
                  <a:schemeClr val="bg1"/>
                </a:solidFill>
              </a:rPr>
              <a:t>Built in the open</a:t>
            </a:r>
            <a:endParaRPr lang="en-US" sz="4400" dirty="0"/>
          </a:p>
        </p:txBody>
      </p:sp>
      <p:sp>
        <p:nvSpPr>
          <p:cNvPr id="4" name="Text 0"/>
          <p:cNvSpPr/>
          <p:nvPr>
            <p:ph idx="101" type="body" hasCustomPrompt="1"/>
          </p:nvPr>
        </p:nvSpPr>
        <p:spPr>
          <a:xfrm>
            <a:off x="457200" y="2514600"/>
            <a:ext cx="5669280" cy="868680"/>
          </a:xfrm>
          <a:prstGeom prst="rect">
            <a:avLst/>
          </a:prstGeom>
          <a:noFill/>
          <a:ln/>
        </p:spPr>
        <p:txBody>
          <a:bodyPr wrap="square" lIns="0" tIns="0" rIns="0" bIns="0" rtlCol="0" anchor="t"/>
          <a:lstStyle/>
          <a:p>
            <a:pPr algn="l" indent="0" marL="0">
              <a:buNone/>
            </a:pPr>
            <a:r>
              <a:rPr lang="en-US" sz="1800" dirty="0">
                <a:solidFill>
                  <a:srgbClr val="CADCF5"/>
                </a:solidFill>
              </a:rPr>
              <a:t>Ready for you today: try it, star it, and help shape what comes next</a:t>
            </a:r>
            <a:endParaRPr lang="en-US" sz="1800" dirty="0"/>
          </a:p>
        </p:txBody>
      </p:sp>
      <p:sp>
        <p:nvSpPr>
          <p:cNvPr id="5" name="Try it locally circle"/>
          <p:cNvSpPr/>
          <p:nvPr/>
        </p:nvSpPr>
        <p:spPr>
          <a:xfrm>
            <a:off x="6812280" y="1097280"/>
            <a:ext cx="685800" cy="685800"/>
          </a:xfrm>
          <a:prstGeom prst="ellipse">
            <a:avLst/>
          </a:prstGeom>
          <a:solidFill>
            <a:schemeClr val="accent1"/>
          </a:solidFill>
          <a:ln w="12700">
            <a:solidFill>
              <a:schemeClr val="accent1"/>
            </a:solidFill>
            <a:prstDash val="solid"/>
          </a:ln>
        </p:spPr>
      </p:sp>
      <p:pic>
        <p:nvPicPr>
          <p:cNvPr id="6" name="Try it locally icon" descr="Try it locally">    </p:cNvPr>
          <p:cNvPicPr>
            <a:picLocks noChangeAspect="1"/>
          </p:cNvPicPr>
          <p:nvPr/>
        </p:nvPicPr>
        <p:blipFill>
          <a:blip r:embed="rId1"/>
          <a:stretch>
            <a:fillRect/>
          </a:stretch>
        </p:blipFill>
        <p:spPr>
          <a:xfrm>
            <a:off x="6983730" y="1268730"/>
            <a:ext cx="342900" cy="342900"/>
          </a:xfrm>
          <a:prstGeom prst="rect">
            <a:avLst/>
          </a:prstGeom>
        </p:spPr>
      </p:pic>
      <p:sp>
        <p:nvSpPr>
          <p:cNvPr id="7" name="Text 4"/>
          <p:cNvSpPr txBox="1"/>
          <p:nvPr/>
        </p:nvSpPr>
        <p:spPr>
          <a:xfrm>
            <a:off x="7635240" y="1280160"/>
            <a:ext cx="1371600" cy="365760"/>
          </a:xfrm>
          <a:prstGeom prst="rect">
            <a:avLst/>
          </a:prstGeom>
          <a:noFill/>
          <a:ln/>
        </p:spPr>
        <p:txBody>
          <a:bodyPr wrap="square" lIns="0" tIns="0" rIns="0" bIns="0" rtlCol="0" anchor="ctr"/>
          <a:lstStyle/>
          <a:p>
            <a:pPr indent="0" marL="0">
              <a:buNone/>
            </a:pPr>
            <a:r>
              <a:rPr lang="en-US" sz="1500" b="1" dirty="0">
                <a:solidFill>
                  <a:schemeClr val="bg1"/>
                </a:solidFill>
              </a:rPr>
              <a:t>Try it locally</a:t>
            </a:r>
            <a:endParaRPr lang="en-US" sz="1500" dirty="0"/>
          </a:p>
        </p:txBody>
      </p:sp>
      <p:sp>
        <p:nvSpPr>
          <p:cNvPr id="8" name="Star the project circle"/>
          <p:cNvSpPr/>
          <p:nvPr/>
        </p:nvSpPr>
        <p:spPr>
          <a:xfrm>
            <a:off x="6812280" y="2121408"/>
            <a:ext cx="685800" cy="685800"/>
          </a:xfrm>
          <a:prstGeom prst="ellipse">
            <a:avLst/>
          </a:prstGeom>
          <a:solidFill>
            <a:schemeClr val="accent2"/>
          </a:solidFill>
          <a:ln w="12700">
            <a:solidFill>
              <a:schemeClr val="accent2"/>
            </a:solidFill>
            <a:prstDash val="solid"/>
          </a:ln>
        </p:spPr>
      </p:sp>
      <p:pic>
        <p:nvPicPr>
          <p:cNvPr id="9" name="Star the project icon" descr="Star the project">    </p:cNvPr>
          <p:cNvPicPr>
            <a:picLocks noChangeAspect="1"/>
          </p:cNvPicPr>
          <p:nvPr/>
        </p:nvPicPr>
        <p:blipFill>
          <a:blip r:embed="rId2"/>
          <a:stretch>
            <a:fillRect/>
          </a:stretch>
        </p:blipFill>
        <p:spPr>
          <a:xfrm>
            <a:off x="6983730" y="2292858"/>
            <a:ext cx="342900" cy="342900"/>
          </a:xfrm>
          <a:prstGeom prst="rect">
            <a:avLst/>
          </a:prstGeom>
        </p:spPr>
      </p:pic>
      <p:sp>
        <p:nvSpPr>
          <p:cNvPr id="10" name="Text 6"/>
          <p:cNvSpPr txBox="1"/>
          <p:nvPr/>
        </p:nvSpPr>
        <p:spPr>
          <a:xfrm>
            <a:off x="7635240" y="2304288"/>
            <a:ext cx="1371600" cy="365760"/>
          </a:xfrm>
          <a:prstGeom prst="rect">
            <a:avLst/>
          </a:prstGeom>
          <a:noFill/>
          <a:ln/>
        </p:spPr>
        <p:txBody>
          <a:bodyPr wrap="square" lIns="0" tIns="0" rIns="0" bIns="0" rtlCol="0" anchor="ctr"/>
          <a:lstStyle/>
          <a:p>
            <a:pPr indent="0" marL="0">
              <a:buNone/>
            </a:pPr>
            <a:r>
              <a:rPr lang="en-US" sz="1500" b="1" dirty="0">
                <a:solidFill>
                  <a:schemeClr val="bg1"/>
                </a:solidFill>
              </a:rPr>
              <a:t>Star the project</a:t>
            </a:r>
            <a:endParaRPr lang="en-US" sz="1500" dirty="0"/>
          </a:p>
        </p:txBody>
      </p:sp>
      <p:sp>
        <p:nvSpPr>
          <p:cNvPr id="11" name="Contribute circle"/>
          <p:cNvSpPr/>
          <p:nvPr/>
        </p:nvSpPr>
        <p:spPr>
          <a:xfrm>
            <a:off x="6812280" y="3145536"/>
            <a:ext cx="685800" cy="685800"/>
          </a:xfrm>
          <a:prstGeom prst="ellipse">
            <a:avLst/>
          </a:prstGeom>
          <a:solidFill>
            <a:schemeClr val="accent3"/>
          </a:solidFill>
          <a:ln w="12700">
            <a:solidFill>
              <a:schemeClr val="accent3"/>
            </a:solidFill>
            <a:prstDash val="solid"/>
          </a:ln>
        </p:spPr>
      </p:sp>
      <p:pic>
        <p:nvPicPr>
          <p:cNvPr id="12" name="Contribute icon" descr="Contribute">    </p:cNvPr>
          <p:cNvPicPr>
            <a:picLocks noChangeAspect="1"/>
          </p:cNvPicPr>
          <p:nvPr/>
        </p:nvPicPr>
        <p:blipFill>
          <a:blip r:embed="rId3"/>
          <a:stretch>
            <a:fillRect/>
          </a:stretch>
        </p:blipFill>
        <p:spPr>
          <a:xfrm>
            <a:off x="6983730" y="3316986"/>
            <a:ext cx="342900" cy="342900"/>
          </a:xfrm>
          <a:prstGeom prst="rect">
            <a:avLst/>
          </a:prstGeom>
        </p:spPr>
      </p:pic>
      <p:sp>
        <p:nvSpPr>
          <p:cNvPr id="13" name="Text 8"/>
          <p:cNvSpPr txBox="1"/>
          <p:nvPr/>
        </p:nvSpPr>
        <p:spPr>
          <a:xfrm>
            <a:off x="7635240" y="3328416"/>
            <a:ext cx="1371600" cy="365760"/>
          </a:xfrm>
          <a:prstGeom prst="rect">
            <a:avLst/>
          </a:prstGeom>
          <a:noFill/>
          <a:ln/>
        </p:spPr>
        <p:txBody>
          <a:bodyPr wrap="square" lIns="0" tIns="0" rIns="0" bIns="0" rtlCol="0" anchor="ctr"/>
          <a:lstStyle/>
          <a:p>
            <a:pPr indent="0" marL="0">
              <a:buNone/>
            </a:pPr>
            <a:r>
              <a:rPr lang="en-US" sz="1500" b="1" dirty="0">
                <a:solidFill>
                  <a:schemeClr val="bg1"/>
                </a:solidFill>
              </a:rPr>
              <a:t>Contribute</a:t>
            </a:r>
            <a:endParaRPr lang="en-US" sz="1500" dirty="0"/>
          </a:p>
        </p:txBody>
      </p:sp>
      <p:sp>
        <p:nvSpPr>
          <p:cNvPr id="14" name="Text 9"/>
          <p:cNvSpPr txBox="1"/>
          <p:nvPr/>
        </p:nvSpPr>
        <p:spPr>
          <a:xfrm>
            <a:off x="457200" y="4160520"/>
            <a:ext cx="6035040" cy="320040"/>
          </a:xfrm>
          <a:prstGeom prst="rect">
            <a:avLst/>
          </a:prstGeom>
          <a:noFill/>
          <a:ln/>
        </p:spPr>
        <p:txBody>
          <a:bodyPr wrap="square" lIns="0" tIns="0" rIns="0" bIns="0" rtlCol="0" anchor="t"/>
          <a:lstStyle/>
          <a:p>
            <a:pPr indent="0" marL="0">
              <a:buNone/>
            </a:pPr>
            <a:r>
              <a:rPr lang="en-US" sz="1400" i="1" dirty="0">
                <a:solidFill>
                  <a:schemeClr val="accent1"/>
                </a:solidFill>
              </a:rPr>
              <a:t>Every design decision is documented as an architecture decision record in docs/.</a:t>
            </a:r>
            <a:endParaRPr lang="en-US" sz="1400" dirty="0"/>
          </a:p>
        </p:txBody>
      </p:sp>
    </p:spTree>
  </p:cSld>
  <p:clrMapOvr>
    <a:masterClrMapping/>
  </p:clrMapOvr>
</p:sld>
</file>

<file path=ppt/theme/theme1.xml><?xml version="1.0" encoding="utf-8"?>
<a:theme xmlns:a="http://schemas.openxmlformats.org/drawingml/2006/main" name="Notification Service">
  <a:themeElements>
    <a:clrScheme name="Notification Service">
      <a:dk1>
        <a:srgbClr val="161A36"/>
      </a:dk1>
      <a:lt1>
        <a:srgbClr val="FFFFFF"/>
      </a:lt1>
      <a:dk2>
        <a:srgbClr val="2B3166"/>
      </a:dk2>
      <a:lt2>
        <a:srgbClr val="F1F4FA"/>
      </a:lt2>
      <a:accent1>
        <a:srgbClr val="14B8A6"/>
      </a:accent1>
      <a:accent2>
        <a:srgbClr val="F59E0B"/>
      </a:accent2>
      <a:accent3>
        <a:srgbClr val="6366F1"/>
      </a:accent3>
      <a:accent4>
        <a:srgbClr val="0EA5E9"/>
      </a:accent4>
      <a:accent5>
        <a:srgbClr val="22C55E"/>
      </a:accent5>
      <a:accent6>
        <a:srgbClr val="F43F5E"/>
      </a:accent6>
      <a:hlink>
        <a:srgbClr val="0EA5E9"/>
      </a:hlink>
      <a:folHlink>
        <a:srgbClr val="6366F1"/>
      </a:folHlink>
    </a:clrScheme>
    <a:fontScheme name="Notification Serv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Notification Service</dc:title>
  <dc:subject>Open-source multi-channel notification platform</dc:subject>
  <dc:creator>Notification Service contributors</dc:creator>
  <cp:lastModifiedBy>Notification Service contributors</cp:lastModifiedBy>
  <cp:revision>1</cp:revision>
  <dcterms:created xsi:type="dcterms:W3CDTF">2026-10-04T15:57:15Z</dcterms:created>
  <dcterms:modified xsi:type="dcterms:W3CDTF">2026-10-04T15:57:15Z</dcterms:modified>
</cp:coreProperties>
</file>